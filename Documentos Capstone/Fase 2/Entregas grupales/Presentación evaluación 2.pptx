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Arimo Bold" charset="1" panose="020B0704020202020204"/>
      <p:regular r:id="rId15"/>
    </p:embeddedFont>
    <p:embeddedFont>
      <p:font typeface="Arimo" charset="1" panose="020B0604020202020204"/>
      <p:regular r:id="rId16"/>
    </p:embeddedFont>
    <p:embeddedFont>
      <p:font typeface="Glacial Indifference Bold" charset="1" panose="0000080000000000000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8.png" Type="http://schemas.openxmlformats.org/officeDocument/2006/relationships/image"/><Relationship Id="rId5" Target="../media/image9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png" Type="http://schemas.openxmlformats.org/officeDocument/2006/relationships/image"/><Relationship Id="rId4" Target="../media/image1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6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14300" cy="10287000"/>
            <a:chOff x="0" y="0"/>
            <a:chExt cx="1524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24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577601" y="8021389"/>
            <a:ext cx="16344900" cy="14288"/>
            <a:chOff x="0" y="0"/>
            <a:chExt cx="21793200" cy="190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793200" cy="19050"/>
            </a:xfrm>
            <a:custGeom>
              <a:avLst/>
              <a:gdLst/>
              <a:ahLst/>
              <a:cxnLst/>
              <a:rect r="r" b="b" t="t" l="l"/>
              <a:pathLst>
                <a:path h="19050" w="21793200">
                  <a:moveTo>
                    <a:pt x="0" y="0"/>
                  </a:moveTo>
                  <a:lnTo>
                    <a:pt x="21793200" y="0"/>
                  </a:lnTo>
                  <a:lnTo>
                    <a:pt x="217932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F8FAFC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21556" y="907256"/>
            <a:ext cx="2400300" cy="485775"/>
            <a:chOff x="0" y="0"/>
            <a:chExt cx="3200400" cy="6477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200400" cy="647700"/>
            </a:xfrm>
            <a:custGeom>
              <a:avLst/>
              <a:gdLst/>
              <a:ahLst/>
              <a:cxnLst/>
              <a:rect r="r" b="b" t="t" l="l"/>
              <a:pathLst>
                <a:path h="647700" w="3200400">
                  <a:moveTo>
                    <a:pt x="0" y="117729"/>
                  </a:moveTo>
                  <a:cubicBezTo>
                    <a:pt x="0" y="52705"/>
                    <a:pt x="52705" y="0"/>
                    <a:pt x="117729" y="0"/>
                  </a:cubicBezTo>
                  <a:lnTo>
                    <a:pt x="3082671" y="0"/>
                  </a:lnTo>
                  <a:cubicBezTo>
                    <a:pt x="3147695" y="0"/>
                    <a:pt x="3200400" y="52705"/>
                    <a:pt x="3200400" y="117729"/>
                  </a:cubicBezTo>
                  <a:lnTo>
                    <a:pt x="3200400" y="529971"/>
                  </a:lnTo>
                  <a:cubicBezTo>
                    <a:pt x="3200400" y="594995"/>
                    <a:pt x="3147695" y="647700"/>
                    <a:pt x="3082671" y="647700"/>
                  </a:cubicBezTo>
                  <a:lnTo>
                    <a:pt x="117729" y="647700"/>
                  </a:lnTo>
                  <a:cubicBezTo>
                    <a:pt x="52705" y="647700"/>
                    <a:pt x="0" y="594995"/>
                    <a:pt x="0" y="529971"/>
                  </a:cubicBezTo>
                  <a:close/>
                </a:path>
              </a:pathLst>
            </a:custGeom>
            <a:solidFill>
              <a:srgbClr val="141830"/>
            </a:solidFill>
            <a:ln w="14288" cap="sq">
              <a:solidFill>
                <a:srgbClr val="242858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4057650" y="8407151"/>
            <a:ext cx="14288" cy="542925"/>
            <a:chOff x="0" y="0"/>
            <a:chExt cx="19050" cy="7239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050" cy="723900"/>
            </a:xfrm>
            <a:custGeom>
              <a:avLst/>
              <a:gdLst/>
              <a:ahLst/>
              <a:cxnLst/>
              <a:rect r="r" b="b" t="t" l="l"/>
              <a:pathLst>
                <a:path h="723900" w="19050">
                  <a:moveTo>
                    <a:pt x="0" y="0"/>
                  </a:moveTo>
                  <a:lnTo>
                    <a:pt x="19050" y="0"/>
                  </a:lnTo>
                  <a:lnTo>
                    <a:pt x="19050" y="723900"/>
                  </a:lnTo>
                  <a:lnTo>
                    <a:pt x="0" y="723900"/>
                  </a:lnTo>
                  <a:close/>
                </a:path>
              </a:pathLst>
            </a:custGeom>
            <a:solidFill>
              <a:srgbClr val="1E293B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21556" y="4173091"/>
            <a:ext cx="5219402" cy="990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22"/>
              </a:lnSpc>
            </a:pPr>
            <a:r>
              <a:rPr lang="en-US" sz="6975" b="true">
                <a:solidFill>
                  <a:srgbClr val="F8FAFC"/>
                </a:solidFill>
                <a:latin typeface="Arimo Bold"/>
                <a:ea typeface="Arimo Bold"/>
                <a:cs typeface="Arimo Bold"/>
                <a:sym typeface="Arimo Bold"/>
              </a:rPr>
              <a:t>Peso a Peso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5277613"/>
            <a:ext cx="8691416" cy="870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475">
                <a:solidFill>
                  <a:srgbClr val="94A3B8"/>
                </a:solidFill>
                <a:latin typeface="Arimo"/>
                <a:ea typeface="Arimo"/>
                <a:cs typeface="Arimo"/>
                <a:sym typeface="Arimo"/>
              </a:rPr>
              <a:t>Aplicación móvil para la gestión, control presupuestario y registro de finanzas personales.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28725" y="981075"/>
            <a:ext cx="2128838" cy="319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687" b="true">
                <a:solidFill>
                  <a:srgbClr val="818CF8"/>
                </a:solidFill>
                <a:latin typeface="Arimo Bold"/>
                <a:ea typeface="Arimo Bold"/>
                <a:cs typeface="Arimo Bold"/>
                <a:sym typeface="Arimo Bold"/>
              </a:rPr>
              <a:t>// CAPSTONE_001D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586162" y="1012031"/>
            <a:ext cx="4179094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Proyecto de Aplicación Tecnológica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67978" y="3639998"/>
            <a:ext cx="6179344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10B981"/>
                </a:solidFill>
                <a:latin typeface="Arimo Bold"/>
                <a:ea typeface="Arimo Bold"/>
                <a:cs typeface="Arimo Bold"/>
                <a:sym typeface="Arimo Bold"/>
              </a:rPr>
              <a:t>FASE 2: DESARROLLO Y AVANCES FUNCIONALES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8226176"/>
            <a:ext cx="1471464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9"/>
              </a:lnSpc>
            </a:pPr>
            <a:r>
              <a:rPr lang="en-US" sz="2149" b="true">
                <a:solidFill>
                  <a:srgbClr val="F8FAFC"/>
                </a:solidFill>
                <a:latin typeface="Arimo Bold"/>
                <a:ea typeface="Arimo Bold"/>
                <a:cs typeface="Arimo Bold"/>
                <a:sym typeface="Arimo Bold"/>
              </a:rPr>
              <a:t>Integrantes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8700" y="8659564"/>
            <a:ext cx="2238821" cy="962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04"/>
              </a:lnSpc>
            </a:pPr>
            <a:r>
              <a:rPr lang="en-US" sz="2087" b="true">
                <a:solidFill>
                  <a:srgbClr val="F1F5F9"/>
                </a:solidFill>
                <a:latin typeface="Arimo Bold"/>
                <a:ea typeface="Arimo Bold"/>
                <a:cs typeface="Arimo Bold"/>
                <a:sym typeface="Arimo Bold"/>
              </a:rPr>
              <a:t>Carlos Loncuante</a:t>
            </a:r>
          </a:p>
          <a:p>
            <a:pPr algn="l">
              <a:lnSpc>
                <a:spcPts val="2504"/>
              </a:lnSpc>
            </a:pPr>
            <a:r>
              <a:rPr lang="en-US" sz="2087" b="true">
                <a:solidFill>
                  <a:srgbClr val="F1F5F9"/>
                </a:solidFill>
                <a:latin typeface="Arimo Bold"/>
                <a:ea typeface="Arimo Bold"/>
                <a:cs typeface="Arimo Bold"/>
                <a:sym typeface="Arimo Bold"/>
              </a:rPr>
              <a:t>Martín Arroyo</a:t>
            </a:r>
          </a:p>
          <a:p>
            <a:pPr algn="l">
              <a:lnSpc>
                <a:spcPts val="2504"/>
              </a:lnSpc>
            </a:pPr>
            <a:r>
              <a:rPr lang="en-US" sz="2087" b="true">
                <a:solidFill>
                  <a:srgbClr val="F1F5F9"/>
                </a:solidFill>
                <a:latin typeface="Arimo Bold"/>
                <a:ea typeface="Arimo Bold"/>
                <a:cs typeface="Arimo Bold"/>
                <a:sym typeface="Arimo Bold"/>
              </a:rPr>
              <a:t>Renato Reinoso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12112767" y="4800473"/>
            <a:ext cx="7214631" cy="7343135"/>
          </a:xfrm>
          <a:custGeom>
            <a:avLst/>
            <a:gdLst/>
            <a:ahLst/>
            <a:cxnLst/>
            <a:rect r="r" b="b" t="t" l="l"/>
            <a:pathLst>
              <a:path h="7343135" w="7214631">
                <a:moveTo>
                  <a:pt x="0" y="0"/>
                </a:moveTo>
                <a:lnTo>
                  <a:pt x="7214630" y="0"/>
                </a:lnTo>
                <a:lnTo>
                  <a:pt x="7214630" y="7343135"/>
                </a:lnTo>
                <a:lnTo>
                  <a:pt x="0" y="734313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-5400000">
            <a:off x="11673100" y="-3372185"/>
            <a:ext cx="7214631" cy="7343135"/>
          </a:xfrm>
          <a:custGeom>
            <a:avLst/>
            <a:gdLst/>
            <a:ahLst/>
            <a:cxnLst/>
            <a:rect r="r" b="b" t="t" l="l"/>
            <a:pathLst>
              <a:path h="7343135" w="7214631">
                <a:moveTo>
                  <a:pt x="0" y="0"/>
                </a:moveTo>
                <a:lnTo>
                  <a:pt x="7214630" y="0"/>
                </a:lnTo>
                <a:lnTo>
                  <a:pt x="7214630" y="7343135"/>
                </a:lnTo>
                <a:lnTo>
                  <a:pt x="0" y="734313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577601" y="2206485"/>
            <a:ext cx="16344900" cy="14288"/>
            <a:chOff x="0" y="0"/>
            <a:chExt cx="21793200" cy="1905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1793200" cy="19050"/>
            </a:xfrm>
            <a:custGeom>
              <a:avLst/>
              <a:gdLst/>
              <a:ahLst/>
              <a:cxnLst/>
              <a:rect r="r" b="b" t="t" l="l"/>
              <a:pathLst>
                <a:path h="19050" w="21793200">
                  <a:moveTo>
                    <a:pt x="0" y="0"/>
                  </a:moveTo>
                  <a:lnTo>
                    <a:pt x="21793200" y="0"/>
                  </a:lnTo>
                  <a:lnTo>
                    <a:pt x="217932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F8FAFC"/>
            </a:solid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310955" y="-2452156"/>
            <a:ext cx="8535602" cy="7976908"/>
          </a:xfrm>
          <a:custGeom>
            <a:avLst/>
            <a:gdLst/>
            <a:ahLst/>
            <a:cxnLst/>
            <a:rect r="r" b="b" t="t" l="l"/>
            <a:pathLst>
              <a:path h="7976908" w="8535602">
                <a:moveTo>
                  <a:pt x="0" y="0"/>
                </a:moveTo>
                <a:lnTo>
                  <a:pt x="8535602" y="0"/>
                </a:lnTo>
                <a:lnTo>
                  <a:pt x="8535602" y="7976908"/>
                </a:lnTo>
                <a:lnTo>
                  <a:pt x="0" y="79769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914400" y="2849597"/>
            <a:ext cx="8799757" cy="2875806"/>
            <a:chOff x="0" y="0"/>
            <a:chExt cx="11733009" cy="383440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1733022" cy="3834407"/>
            </a:xfrm>
            <a:custGeom>
              <a:avLst/>
              <a:gdLst/>
              <a:ahLst/>
              <a:cxnLst/>
              <a:rect r="r" b="b" t="t" l="l"/>
              <a:pathLst>
                <a:path h="3834407" w="11733022">
                  <a:moveTo>
                    <a:pt x="0" y="305740"/>
                  </a:moveTo>
                  <a:cubicBezTo>
                    <a:pt x="0" y="136841"/>
                    <a:pt x="102997" y="0"/>
                    <a:pt x="230124" y="0"/>
                  </a:cubicBezTo>
                  <a:lnTo>
                    <a:pt x="11502898" y="0"/>
                  </a:lnTo>
                  <a:cubicBezTo>
                    <a:pt x="11630025" y="0"/>
                    <a:pt x="11733022" y="136841"/>
                    <a:pt x="11733022" y="305740"/>
                  </a:cubicBezTo>
                  <a:lnTo>
                    <a:pt x="11733022" y="3528668"/>
                  </a:lnTo>
                  <a:cubicBezTo>
                    <a:pt x="11733022" y="3697567"/>
                    <a:pt x="11630025" y="3834407"/>
                    <a:pt x="11502898" y="3834407"/>
                  </a:cubicBezTo>
                  <a:lnTo>
                    <a:pt x="230124" y="3834407"/>
                  </a:lnTo>
                  <a:cubicBezTo>
                    <a:pt x="102997" y="3834407"/>
                    <a:pt x="0" y="3697567"/>
                    <a:pt x="0" y="3528668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914400" y="6111255"/>
            <a:ext cx="8799757" cy="2506920"/>
            <a:chOff x="0" y="0"/>
            <a:chExt cx="11733009" cy="3342560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11733009" cy="3342560"/>
              <a:chOff x="0" y="0"/>
              <a:chExt cx="11733009" cy="334256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11733022" cy="3342560"/>
              </a:xfrm>
              <a:custGeom>
                <a:avLst/>
                <a:gdLst/>
                <a:ahLst/>
                <a:cxnLst/>
                <a:rect r="r" b="b" t="t" l="l"/>
                <a:pathLst>
                  <a:path h="3342560" w="11733022">
                    <a:moveTo>
                      <a:pt x="0" y="313354"/>
                    </a:moveTo>
                    <a:cubicBezTo>
                      <a:pt x="0" y="140267"/>
                      <a:pt x="103124" y="0"/>
                      <a:pt x="230378" y="0"/>
                    </a:cubicBezTo>
                    <a:lnTo>
                      <a:pt x="11502644" y="0"/>
                    </a:lnTo>
                    <a:cubicBezTo>
                      <a:pt x="11629898" y="0"/>
                      <a:pt x="11733022" y="140267"/>
                      <a:pt x="11733022" y="313354"/>
                    </a:cubicBezTo>
                    <a:lnTo>
                      <a:pt x="11733022" y="3029206"/>
                    </a:lnTo>
                    <a:cubicBezTo>
                      <a:pt x="11733022" y="3202294"/>
                      <a:pt x="11629898" y="3342560"/>
                      <a:pt x="11502644" y="3342560"/>
                    </a:cubicBezTo>
                    <a:lnTo>
                      <a:pt x="230378" y="3342560"/>
                    </a:lnTo>
                    <a:cubicBezTo>
                      <a:pt x="103124" y="3342560"/>
                      <a:pt x="0" y="3202294"/>
                      <a:pt x="0" y="3029206"/>
                    </a:cubicBezTo>
                    <a:close/>
                  </a:path>
                </a:pathLst>
              </a:custGeom>
              <a:solidFill>
                <a:srgbClr val="FFFFFF"/>
              </a:solidFill>
              <a:ln w="14288" cap="sq">
                <a:solidFill>
                  <a:srgbClr val="E2E8F0"/>
                </a:solidFill>
                <a:prstDash val="solid"/>
                <a:miter/>
              </a:ln>
            </p:spPr>
          </p:sp>
        </p:grpSp>
        <p:sp>
          <p:nvSpPr>
            <p:cNvPr name="TextBox 8" id="8"/>
            <p:cNvSpPr txBox="true"/>
            <p:nvPr/>
          </p:nvSpPr>
          <p:spPr>
            <a:xfrm rot="0">
              <a:off x="485775" y="1028700"/>
              <a:ext cx="10951959" cy="189757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880"/>
                </a:lnSpc>
              </a:pPr>
              <a:r>
                <a:rPr lang="en-US" sz="2587">
                  <a:solidFill>
                    <a:srgbClr val="475569"/>
                  </a:solidFill>
                  <a:latin typeface="Arimo"/>
                  <a:ea typeface="Arimo"/>
                  <a:cs typeface="Arimo"/>
                  <a:sym typeface="Arimo"/>
                </a:rPr>
                <a:t>No se han realizado modificaciones a la propuesta original. Se mantienen los hitos de la planificación y la metodología definida para el proyecto APT.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485775" y="485775"/>
              <a:ext cx="1181100" cy="419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0F172A"/>
                  </a:solidFill>
                  <a:latin typeface="Arimo Bold"/>
                  <a:ea typeface="Arimo Bold"/>
                  <a:cs typeface="Arimo Bold"/>
                  <a:sym typeface="Arimo Bold"/>
                </a:rPr>
                <a:t>[02]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1247775" y="476250"/>
              <a:ext cx="5250650" cy="4476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30"/>
                </a:lnSpc>
              </a:pPr>
              <a:r>
                <a:rPr lang="en-US" sz="2025" b="true">
                  <a:solidFill>
                    <a:srgbClr val="0F172A"/>
                  </a:solidFill>
                  <a:latin typeface="Arimo Bold"/>
                  <a:ea typeface="Arimo Bold"/>
                  <a:cs typeface="Arimo Bold"/>
                  <a:sym typeface="Arimo Bold"/>
                </a:rPr>
                <a:t>Alineación de Objetivos</a:t>
              </a: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0727397" y="1128712"/>
            <a:ext cx="5043868" cy="7010337"/>
          </a:xfrm>
          <a:custGeom>
            <a:avLst/>
            <a:gdLst/>
            <a:ahLst/>
            <a:cxnLst/>
            <a:rect r="r" b="b" t="t" l="l"/>
            <a:pathLst>
              <a:path h="7010337" w="5043868">
                <a:moveTo>
                  <a:pt x="0" y="0"/>
                </a:moveTo>
                <a:lnTo>
                  <a:pt x="5043867" y="0"/>
                </a:lnTo>
                <a:lnTo>
                  <a:pt x="5043867" y="7010338"/>
                </a:lnTo>
                <a:lnTo>
                  <a:pt x="0" y="701033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3249331" y="3228216"/>
            <a:ext cx="4583681" cy="6298187"/>
          </a:xfrm>
          <a:custGeom>
            <a:avLst/>
            <a:gdLst/>
            <a:ahLst/>
            <a:cxnLst/>
            <a:rect r="r" b="b" t="t" l="l"/>
            <a:pathLst>
              <a:path h="6298187" w="4583681">
                <a:moveTo>
                  <a:pt x="0" y="0"/>
                </a:moveTo>
                <a:lnTo>
                  <a:pt x="4583680" y="0"/>
                </a:lnTo>
                <a:lnTo>
                  <a:pt x="4583680" y="6298187"/>
                </a:lnTo>
                <a:lnTo>
                  <a:pt x="0" y="629818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914400" y="790575"/>
            <a:ext cx="8465344" cy="252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 b="true">
                <a:solidFill>
                  <a:srgbClr val="6366F1"/>
                </a:solidFill>
                <a:latin typeface="Arimo Bold"/>
                <a:ea typeface="Arimo Bold"/>
                <a:cs typeface="Arimo Bold"/>
                <a:sym typeface="Arimo Bold"/>
              </a:rPr>
              <a:t>// 01. INTRODUCCIÓN Y CONTEXTO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14400" y="1109662"/>
            <a:ext cx="8888606" cy="6619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sz="4050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Estado Actual del Proyecto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78731" y="3599691"/>
            <a:ext cx="8213969" cy="19303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80"/>
              </a:lnSpc>
            </a:pPr>
            <a:r>
              <a:rPr lang="en-US" sz="2587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Desarrollo activo de la aplicación móvil </a:t>
            </a:r>
            <a:r>
              <a:rPr lang="en-US" sz="2587" b="true">
                <a:solidFill>
                  <a:srgbClr val="475569"/>
                </a:solidFill>
                <a:latin typeface="Arimo Bold"/>
                <a:ea typeface="Arimo Bold"/>
                <a:cs typeface="Arimo Bold"/>
                <a:sym typeface="Arimo Bold"/>
              </a:rPr>
              <a:t>Peso a Peso</a:t>
            </a:r>
            <a:r>
              <a:rPr lang="en-US" sz="2587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. Contamos con módulos operativos para control financiero diario, presupuestos y resguardo local de información.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78731" y="3209166"/>
            <a:ext cx="842962" cy="319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6366F1"/>
                </a:solidFill>
                <a:latin typeface="Arimo Bold"/>
                <a:ea typeface="Arimo Bold"/>
                <a:cs typeface="Arimo Bold"/>
                <a:sym typeface="Arimo Bold"/>
              </a:rPr>
              <a:t>[01]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807369" y="3204404"/>
            <a:ext cx="3694214" cy="338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Resumen del Progreso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-1446812" y="7841762"/>
            <a:ext cx="5482705" cy="4884592"/>
          </a:xfrm>
          <a:custGeom>
            <a:avLst/>
            <a:gdLst/>
            <a:ahLst/>
            <a:cxnLst/>
            <a:rect r="r" b="b" t="t" l="l"/>
            <a:pathLst>
              <a:path h="4884592" w="5482705">
                <a:moveTo>
                  <a:pt x="0" y="0"/>
                </a:moveTo>
                <a:lnTo>
                  <a:pt x="5482705" y="0"/>
                </a:lnTo>
                <a:lnTo>
                  <a:pt x="5482705" y="4884591"/>
                </a:lnTo>
                <a:lnTo>
                  <a:pt x="0" y="488459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310955" y="-2452156"/>
            <a:ext cx="8535602" cy="7976908"/>
          </a:xfrm>
          <a:custGeom>
            <a:avLst/>
            <a:gdLst/>
            <a:ahLst/>
            <a:cxnLst/>
            <a:rect r="r" b="b" t="t" l="l"/>
            <a:pathLst>
              <a:path h="7976908" w="8535602">
                <a:moveTo>
                  <a:pt x="0" y="0"/>
                </a:moveTo>
                <a:lnTo>
                  <a:pt x="8535602" y="0"/>
                </a:lnTo>
                <a:lnTo>
                  <a:pt x="8535602" y="7976908"/>
                </a:lnTo>
                <a:lnTo>
                  <a:pt x="0" y="79769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907256" y="3336131"/>
            <a:ext cx="3957638" cy="4586288"/>
            <a:chOff x="0" y="0"/>
            <a:chExt cx="5276850" cy="611505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276850" cy="6115050"/>
            </a:xfrm>
            <a:custGeom>
              <a:avLst/>
              <a:gdLst/>
              <a:ahLst/>
              <a:cxnLst/>
              <a:rect r="r" b="b" t="t" l="l"/>
              <a:pathLst>
                <a:path h="6115050" w="5276850">
                  <a:moveTo>
                    <a:pt x="0" y="229362"/>
                  </a:moveTo>
                  <a:cubicBezTo>
                    <a:pt x="0" y="102743"/>
                    <a:pt x="102743" y="0"/>
                    <a:pt x="229362" y="0"/>
                  </a:cubicBezTo>
                  <a:lnTo>
                    <a:pt x="5047488" y="0"/>
                  </a:lnTo>
                  <a:cubicBezTo>
                    <a:pt x="5174234" y="0"/>
                    <a:pt x="5276850" y="102743"/>
                    <a:pt x="5276850" y="229362"/>
                  </a:cubicBezTo>
                  <a:lnTo>
                    <a:pt x="5276850" y="5885688"/>
                  </a:lnTo>
                  <a:cubicBezTo>
                    <a:pt x="5276850" y="6012434"/>
                    <a:pt x="5174107" y="6115050"/>
                    <a:pt x="5047488" y="6115050"/>
                  </a:cubicBezTo>
                  <a:lnTo>
                    <a:pt x="229362" y="6115050"/>
                  </a:lnTo>
                  <a:cubicBezTo>
                    <a:pt x="102743" y="6115050"/>
                    <a:pt x="0" y="6012307"/>
                    <a:pt x="0" y="5885688"/>
                  </a:cubicBezTo>
                  <a:close/>
                </a:path>
              </a:pathLst>
            </a:custGeom>
            <a:solidFill>
              <a:srgbClr val="F8FAFC"/>
            </a:solidFill>
            <a:ln w="14288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5079206" y="3336131"/>
            <a:ext cx="3957638" cy="4586288"/>
            <a:chOff x="0" y="0"/>
            <a:chExt cx="5276850" cy="611505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276850" cy="6115050"/>
            </a:xfrm>
            <a:custGeom>
              <a:avLst/>
              <a:gdLst/>
              <a:ahLst/>
              <a:cxnLst/>
              <a:rect r="r" b="b" t="t" l="l"/>
              <a:pathLst>
                <a:path h="6115050" w="5276850">
                  <a:moveTo>
                    <a:pt x="0" y="229362"/>
                  </a:moveTo>
                  <a:cubicBezTo>
                    <a:pt x="0" y="102743"/>
                    <a:pt x="102743" y="0"/>
                    <a:pt x="229362" y="0"/>
                  </a:cubicBezTo>
                  <a:lnTo>
                    <a:pt x="5047488" y="0"/>
                  </a:lnTo>
                  <a:cubicBezTo>
                    <a:pt x="5174234" y="0"/>
                    <a:pt x="5276850" y="102743"/>
                    <a:pt x="5276850" y="229362"/>
                  </a:cubicBezTo>
                  <a:lnTo>
                    <a:pt x="5276850" y="5885688"/>
                  </a:lnTo>
                  <a:cubicBezTo>
                    <a:pt x="5276850" y="6012434"/>
                    <a:pt x="5174107" y="6115050"/>
                    <a:pt x="5047488" y="6115050"/>
                  </a:cubicBezTo>
                  <a:lnTo>
                    <a:pt x="229362" y="6115050"/>
                  </a:lnTo>
                  <a:cubicBezTo>
                    <a:pt x="102743" y="6115050"/>
                    <a:pt x="0" y="6012307"/>
                    <a:pt x="0" y="5885688"/>
                  </a:cubicBezTo>
                  <a:close/>
                </a:path>
              </a:pathLst>
            </a:custGeom>
            <a:solidFill>
              <a:srgbClr val="F8FAFC"/>
            </a:solidFill>
            <a:ln w="14288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9251156" y="3336131"/>
            <a:ext cx="3957638" cy="4586288"/>
            <a:chOff x="0" y="0"/>
            <a:chExt cx="5276850" cy="61150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276850" cy="6115050"/>
            </a:xfrm>
            <a:custGeom>
              <a:avLst/>
              <a:gdLst/>
              <a:ahLst/>
              <a:cxnLst/>
              <a:rect r="r" b="b" t="t" l="l"/>
              <a:pathLst>
                <a:path h="6115050" w="5276850">
                  <a:moveTo>
                    <a:pt x="0" y="229362"/>
                  </a:moveTo>
                  <a:cubicBezTo>
                    <a:pt x="0" y="102743"/>
                    <a:pt x="102743" y="0"/>
                    <a:pt x="229362" y="0"/>
                  </a:cubicBezTo>
                  <a:lnTo>
                    <a:pt x="5047488" y="0"/>
                  </a:lnTo>
                  <a:cubicBezTo>
                    <a:pt x="5174234" y="0"/>
                    <a:pt x="5276850" y="102743"/>
                    <a:pt x="5276850" y="229362"/>
                  </a:cubicBezTo>
                  <a:lnTo>
                    <a:pt x="5276850" y="5885688"/>
                  </a:lnTo>
                  <a:cubicBezTo>
                    <a:pt x="5276850" y="6012434"/>
                    <a:pt x="5174107" y="6115050"/>
                    <a:pt x="5047488" y="6115050"/>
                  </a:cubicBezTo>
                  <a:lnTo>
                    <a:pt x="229362" y="6115050"/>
                  </a:lnTo>
                  <a:cubicBezTo>
                    <a:pt x="102743" y="6115050"/>
                    <a:pt x="0" y="6012307"/>
                    <a:pt x="0" y="5885688"/>
                  </a:cubicBezTo>
                  <a:close/>
                </a:path>
              </a:pathLst>
            </a:custGeom>
            <a:solidFill>
              <a:srgbClr val="F8FAFC"/>
            </a:solidFill>
            <a:ln w="14288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3423106" y="3336131"/>
            <a:ext cx="3957638" cy="4586288"/>
            <a:chOff x="0" y="0"/>
            <a:chExt cx="5276850" cy="611505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276850" cy="6115050"/>
            </a:xfrm>
            <a:custGeom>
              <a:avLst/>
              <a:gdLst/>
              <a:ahLst/>
              <a:cxnLst/>
              <a:rect r="r" b="b" t="t" l="l"/>
              <a:pathLst>
                <a:path h="6115050" w="5276850">
                  <a:moveTo>
                    <a:pt x="0" y="229362"/>
                  </a:moveTo>
                  <a:cubicBezTo>
                    <a:pt x="0" y="102743"/>
                    <a:pt x="102743" y="0"/>
                    <a:pt x="229362" y="0"/>
                  </a:cubicBezTo>
                  <a:lnTo>
                    <a:pt x="5047488" y="0"/>
                  </a:lnTo>
                  <a:cubicBezTo>
                    <a:pt x="5174234" y="0"/>
                    <a:pt x="5276850" y="102743"/>
                    <a:pt x="5276850" y="229362"/>
                  </a:cubicBezTo>
                  <a:lnTo>
                    <a:pt x="5276850" y="5885688"/>
                  </a:lnTo>
                  <a:cubicBezTo>
                    <a:pt x="5276850" y="6012434"/>
                    <a:pt x="5174107" y="6115050"/>
                    <a:pt x="5047488" y="6115050"/>
                  </a:cubicBezTo>
                  <a:lnTo>
                    <a:pt x="229362" y="6115050"/>
                  </a:lnTo>
                  <a:cubicBezTo>
                    <a:pt x="102743" y="6115050"/>
                    <a:pt x="0" y="6012307"/>
                    <a:pt x="0" y="5885688"/>
                  </a:cubicBezTo>
                  <a:close/>
                </a:path>
              </a:pathLst>
            </a:custGeom>
            <a:solidFill>
              <a:srgbClr val="F8FAFC"/>
            </a:solidFill>
            <a:ln w="14288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1271588" y="7072312"/>
            <a:ext cx="3228975" cy="14288"/>
            <a:chOff x="0" y="0"/>
            <a:chExt cx="4305300" cy="1905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305300" cy="19050"/>
            </a:xfrm>
            <a:custGeom>
              <a:avLst/>
              <a:gdLst/>
              <a:ahLst/>
              <a:cxnLst/>
              <a:rect r="r" b="b" t="t" l="l"/>
              <a:pathLst>
                <a:path h="19050" w="4305300">
                  <a:moveTo>
                    <a:pt x="0" y="0"/>
                  </a:moveTo>
                  <a:lnTo>
                    <a:pt x="4305300" y="0"/>
                  </a:lnTo>
                  <a:lnTo>
                    <a:pt x="43053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CBD5E1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5443538" y="7072312"/>
            <a:ext cx="3228975" cy="14288"/>
            <a:chOff x="0" y="0"/>
            <a:chExt cx="4305300" cy="1905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305300" cy="19050"/>
            </a:xfrm>
            <a:custGeom>
              <a:avLst/>
              <a:gdLst/>
              <a:ahLst/>
              <a:cxnLst/>
              <a:rect r="r" b="b" t="t" l="l"/>
              <a:pathLst>
                <a:path h="19050" w="4305300">
                  <a:moveTo>
                    <a:pt x="0" y="0"/>
                  </a:moveTo>
                  <a:lnTo>
                    <a:pt x="4305300" y="0"/>
                  </a:lnTo>
                  <a:lnTo>
                    <a:pt x="43053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CBD5E1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9615488" y="7072312"/>
            <a:ext cx="3228975" cy="14288"/>
            <a:chOff x="0" y="0"/>
            <a:chExt cx="4305300" cy="1905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305300" cy="19050"/>
            </a:xfrm>
            <a:custGeom>
              <a:avLst/>
              <a:gdLst/>
              <a:ahLst/>
              <a:cxnLst/>
              <a:rect r="r" b="b" t="t" l="l"/>
              <a:pathLst>
                <a:path h="19050" w="4305300">
                  <a:moveTo>
                    <a:pt x="0" y="0"/>
                  </a:moveTo>
                  <a:lnTo>
                    <a:pt x="4305300" y="0"/>
                  </a:lnTo>
                  <a:lnTo>
                    <a:pt x="43053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CBD5E1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3787438" y="7072312"/>
            <a:ext cx="3228975" cy="14288"/>
            <a:chOff x="0" y="0"/>
            <a:chExt cx="4305300" cy="1905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305300" cy="19050"/>
            </a:xfrm>
            <a:custGeom>
              <a:avLst/>
              <a:gdLst/>
              <a:ahLst/>
              <a:cxnLst/>
              <a:rect r="r" b="b" t="t" l="l"/>
              <a:pathLst>
                <a:path h="19050" w="4305300">
                  <a:moveTo>
                    <a:pt x="0" y="0"/>
                  </a:moveTo>
                  <a:lnTo>
                    <a:pt x="4305300" y="0"/>
                  </a:lnTo>
                  <a:lnTo>
                    <a:pt x="43053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CBD5E1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271588" y="3714750"/>
            <a:ext cx="928688" cy="342900"/>
            <a:chOff x="0" y="0"/>
            <a:chExt cx="1238250" cy="4572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238250" cy="457200"/>
            </a:xfrm>
            <a:custGeom>
              <a:avLst/>
              <a:gdLst/>
              <a:ahLst/>
              <a:cxnLst/>
              <a:rect r="r" b="b" t="t" l="l"/>
              <a:pathLst>
                <a:path h="457200" w="1238250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lnTo>
                    <a:pt x="1162050" y="0"/>
                  </a:lnTo>
                  <a:cubicBezTo>
                    <a:pt x="1204087" y="0"/>
                    <a:pt x="1238250" y="34163"/>
                    <a:pt x="1238250" y="76200"/>
                  </a:cubicBezTo>
                  <a:lnTo>
                    <a:pt x="1238250" y="381000"/>
                  </a:lnTo>
                  <a:cubicBezTo>
                    <a:pt x="1238250" y="423037"/>
                    <a:pt x="1204087" y="457200"/>
                    <a:pt x="1162050" y="457200"/>
                  </a:cubicBezTo>
                  <a:lnTo>
                    <a:pt x="76200" y="457200"/>
                  </a:lnTo>
                  <a:cubicBezTo>
                    <a:pt x="34163" y="457200"/>
                    <a:pt x="0" y="423037"/>
                    <a:pt x="0" y="381000"/>
                  </a:cubicBezTo>
                  <a:close/>
                </a:path>
              </a:pathLst>
            </a:custGeom>
            <a:solidFill>
              <a:srgbClr val="DBEAFE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5443538" y="3714750"/>
            <a:ext cx="957262" cy="342900"/>
            <a:chOff x="0" y="0"/>
            <a:chExt cx="1276350" cy="4572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276350" cy="457200"/>
            </a:xfrm>
            <a:custGeom>
              <a:avLst/>
              <a:gdLst/>
              <a:ahLst/>
              <a:cxnLst/>
              <a:rect r="r" b="b" t="t" l="l"/>
              <a:pathLst>
                <a:path h="457200" w="1276350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lnTo>
                    <a:pt x="1200150" y="0"/>
                  </a:lnTo>
                  <a:cubicBezTo>
                    <a:pt x="1242187" y="0"/>
                    <a:pt x="1276350" y="34163"/>
                    <a:pt x="1276350" y="76200"/>
                  </a:cubicBezTo>
                  <a:lnTo>
                    <a:pt x="1276350" y="381000"/>
                  </a:lnTo>
                  <a:cubicBezTo>
                    <a:pt x="1276350" y="423037"/>
                    <a:pt x="1242187" y="457200"/>
                    <a:pt x="1200150" y="457200"/>
                  </a:cubicBezTo>
                  <a:lnTo>
                    <a:pt x="76200" y="457200"/>
                  </a:lnTo>
                  <a:cubicBezTo>
                    <a:pt x="34163" y="457200"/>
                    <a:pt x="0" y="423037"/>
                    <a:pt x="0" y="381000"/>
                  </a:cubicBezTo>
                  <a:close/>
                </a:path>
              </a:pathLst>
            </a:custGeom>
            <a:solidFill>
              <a:srgbClr val="D1FAE5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9615488" y="3714750"/>
            <a:ext cx="957262" cy="342900"/>
            <a:chOff x="0" y="0"/>
            <a:chExt cx="1276350" cy="4572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276350" cy="457200"/>
            </a:xfrm>
            <a:custGeom>
              <a:avLst/>
              <a:gdLst/>
              <a:ahLst/>
              <a:cxnLst/>
              <a:rect r="r" b="b" t="t" l="l"/>
              <a:pathLst>
                <a:path h="457200" w="1276350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lnTo>
                    <a:pt x="1200150" y="0"/>
                  </a:lnTo>
                  <a:cubicBezTo>
                    <a:pt x="1242187" y="0"/>
                    <a:pt x="1276350" y="34163"/>
                    <a:pt x="1276350" y="76200"/>
                  </a:cubicBezTo>
                  <a:lnTo>
                    <a:pt x="1276350" y="381000"/>
                  </a:lnTo>
                  <a:cubicBezTo>
                    <a:pt x="1276350" y="423037"/>
                    <a:pt x="1242187" y="457200"/>
                    <a:pt x="1200150" y="457200"/>
                  </a:cubicBezTo>
                  <a:lnTo>
                    <a:pt x="76200" y="457200"/>
                  </a:lnTo>
                  <a:cubicBezTo>
                    <a:pt x="34163" y="457200"/>
                    <a:pt x="0" y="423037"/>
                    <a:pt x="0" y="381000"/>
                  </a:cubicBezTo>
                  <a:close/>
                </a:path>
              </a:pathLst>
            </a:custGeom>
            <a:solidFill>
              <a:srgbClr val="EDE9FE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3787438" y="3714750"/>
            <a:ext cx="971550" cy="342900"/>
            <a:chOff x="0" y="0"/>
            <a:chExt cx="1295400" cy="4572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295400" cy="457200"/>
            </a:xfrm>
            <a:custGeom>
              <a:avLst/>
              <a:gdLst/>
              <a:ahLst/>
              <a:cxnLst/>
              <a:rect r="r" b="b" t="t" l="l"/>
              <a:pathLst>
                <a:path h="457200" w="1295400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lnTo>
                    <a:pt x="1219200" y="0"/>
                  </a:lnTo>
                  <a:cubicBezTo>
                    <a:pt x="1261237" y="0"/>
                    <a:pt x="1295400" y="34163"/>
                    <a:pt x="1295400" y="76200"/>
                  </a:cubicBezTo>
                  <a:lnTo>
                    <a:pt x="1295400" y="381000"/>
                  </a:lnTo>
                  <a:cubicBezTo>
                    <a:pt x="1295400" y="423037"/>
                    <a:pt x="1261237" y="457200"/>
                    <a:pt x="1219200" y="457200"/>
                  </a:cubicBezTo>
                  <a:lnTo>
                    <a:pt x="76200" y="457200"/>
                  </a:lnTo>
                  <a:cubicBezTo>
                    <a:pt x="34163" y="457200"/>
                    <a:pt x="0" y="423037"/>
                    <a:pt x="0" y="381000"/>
                  </a:cubicBezTo>
                  <a:close/>
                </a:path>
              </a:pathLst>
            </a:custGeom>
            <a:solidFill>
              <a:srgbClr val="FEF3C7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271588" y="7343775"/>
            <a:ext cx="157162" cy="185738"/>
            <a:chOff x="0" y="0"/>
            <a:chExt cx="209550" cy="247650"/>
          </a:xfrm>
        </p:grpSpPr>
        <p:sp>
          <p:nvSpPr>
            <p:cNvPr name="Freeform 28" id="28" descr="image.png"/>
            <p:cNvSpPr/>
            <p:nvPr/>
          </p:nvSpPr>
          <p:spPr>
            <a:xfrm flipH="false" flipV="false" rot="0">
              <a:off x="0" y="0"/>
              <a:ext cx="209550" cy="247650"/>
            </a:xfrm>
            <a:custGeom>
              <a:avLst/>
              <a:gdLst/>
              <a:ahLst/>
              <a:cxnLst/>
              <a:rect r="r" b="b" t="t" l="l"/>
              <a:pathLst>
                <a:path h="247650" w="209550">
                  <a:moveTo>
                    <a:pt x="0" y="0"/>
                  </a:moveTo>
                  <a:lnTo>
                    <a:pt x="209550" y="0"/>
                  </a:lnTo>
                  <a:lnTo>
                    <a:pt x="209550" y="247650"/>
                  </a:lnTo>
                  <a:lnTo>
                    <a:pt x="0" y="2476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5443538" y="7343775"/>
            <a:ext cx="157162" cy="185738"/>
            <a:chOff x="0" y="0"/>
            <a:chExt cx="209550" cy="247650"/>
          </a:xfrm>
        </p:grpSpPr>
        <p:sp>
          <p:nvSpPr>
            <p:cNvPr name="Freeform 30" id="30" descr="image.png"/>
            <p:cNvSpPr/>
            <p:nvPr/>
          </p:nvSpPr>
          <p:spPr>
            <a:xfrm flipH="false" flipV="false" rot="0">
              <a:off x="0" y="0"/>
              <a:ext cx="209550" cy="247650"/>
            </a:xfrm>
            <a:custGeom>
              <a:avLst/>
              <a:gdLst/>
              <a:ahLst/>
              <a:cxnLst/>
              <a:rect r="r" b="b" t="t" l="l"/>
              <a:pathLst>
                <a:path h="247650" w="209550">
                  <a:moveTo>
                    <a:pt x="0" y="0"/>
                  </a:moveTo>
                  <a:lnTo>
                    <a:pt x="209550" y="0"/>
                  </a:lnTo>
                  <a:lnTo>
                    <a:pt x="209550" y="247650"/>
                  </a:lnTo>
                  <a:lnTo>
                    <a:pt x="0" y="2476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4545" t="0" r="-4545" b="0"/>
              </a:stretch>
            </a:blip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9615488" y="7343775"/>
            <a:ext cx="157162" cy="185738"/>
            <a:chOff x="0" y="0"/>
            <a:chExt cx="209550" cy="247650"/>
          </a:xfrm>
        </p:grpSpPr>
        <p:sp>
          <p:nvSpPr>
            <p:cNvPr name="Freeform 32" id="32" descr="image.png"/>
            <p:cNvSpPr/>
            <p:nvPr/>
          </p:nvSpPr>
          <p:spPr>
            <a:xfrm flipH="false" flipV="false" rot="0">
              <a:off x="0" y="0"/>
              <a:ext cx="209550" cy="247650"/>
            </a:xfrm>
            <a:custGeom>
              <a:avLst/>
              <a:gdLst/>
              <a:ahLst/>
              <a:cxnLst/>
              <a:rect r="r" b="b" t="t" l="l"/>
              <a:pathLst>
                <a:path h="247650" w="209550">
                  <a:moveTo>
                    <a:pt x="0" y="0"/>
                  </a:moveTo>
                  <a:lnTo>
                    <a:pt x="209550" y="0"/>
                  </a:lnTo>
                  <a:lnTo>
                    <a:pt x="209550" y="247650"/>
                  </a:lnTo>
                  <a:lnTo>
                    <a:pt x="0" y="2476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3787438" y="7343775"/>
            <a:ext cx="157162" cy="185738"/>
            <a:chOff x="0" y="0"/>
            <a:chExt cx="209550" cy="247650"/>
          </a:xfrm>
        </p:grpSpPr>
        <p:sp>
          <p:nvSpPr>
            <p:cNvPr name="Freeform 34" id="34" descr="image.png"/>
            <p:cNvSpPr/>
            <p:nvPr/>
          </p:nvSpPr>
          <p:spPr>
            <a:xfrm flipH="false" flipV="false" rot="0">
              <a:off x="0" y="0"/>
              <a:ext cx="209550" cy="247650"/>
            </a:xfrm>
            <a:custGeom>
              <a:avLst/>
              <a:gdLst/>
              <a:ahLst/>
              <a:cxnLst/>
              <a:rect r="r" b="b" t="t" l="l"/>
              <a:pathLst>
                <a:path h="247650" w="209550">
                  <a:moveTo>
                    <a:pt x="0" y="0"/>
                  </a:moveTo>
                  <a:lnTo>
                    <a:pt x="209550" y="0"/>
                  </a:lnTo>
                  <a:lnTo>
                    <a:pt x="209550" y="247650"/>
                  </a:lnTo>
                  <a:lnTo>
                    <a:pt x="0" y="2476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4545" t="0" r="-4545" b="0"/>
              </a:stretch>
            </a:blipFill>
          </p:spPr>
        </p:sp>
      </p:grpSp>
      <p:sp>
        <p:nvSpPr>
          <p:cNvPr name="TextBox 35" id="35"/>
          <p:cNvSpPr txBox="true"/>
          <p:nvPr/>
        </p:nvSpPr>
        <p:spPr>
          <a:xfrm rot="0">
            <a:off x="15401925" y="790575"/>
            <a:ext cx="2464594" cy="252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EVIDENCIA_FASE_2.log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914400" y="790575"/>
            <a:ext cx="10465594" cy="252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 b="true">
                <a:solidFill>
                  <a:srgbClr val="6366F1"/>
                </a:solidFill>
                <a:latin typeface="Arimo Bold"/>
                <a:ea typeface="Arimo Bold"/>
                <a:cs typeface="Arimo Bold"/>
                <a:sym typeface="Arimo Bold"/>
              </a:rPr>
              <a:t>// 02. EVIDENCIAS DE AVANCE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914400" y="1109662"/>
            <a:ext cx="10988869" cy="6619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sz="4050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Módulos e Funcionalidades Listas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2386012" y="7234237"/>
            <a:ext cx="2257425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 b="true">
                <a:solidFill>
                  <a:srgbClr val="059669"/>
                </a:solidFill>
                <a:latin typeface="Arimo Bold"/>
                <a:ea typeface="Arimo Bold"/>
                <a:cs typeface="Arimo Bold"/>
                <a:sym typeface="Arimo Bold"/>
              </a:rPr>
              <a:t>100% Funcional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6557962" y="7234237"/>
            <a:ext cx="2257425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 b="true">
                <a:solidFill>
                  <a:srgbClr val="059669"/>
                </a:solidFill>
                <a:latin typeface="Arimo Bold"/>
                <a:ea typeface="Arimo Bold"/>
                <a:cs typeface="Arimo Bold"/>
                <a:sym typeface="Arimo Bold"/>
              </a:rPr>
              <a:t>100% Funcional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0729912" y="7234237"/>
            <a:ext cx="2257425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 b="true">
                <a:solidFill>
                  <a:srgbClr val="059669"/>
                </a:solidFill>
                <a:latin typeface="Arimo Bold"/>
                <a:ea typeface="Arimo Bold"/>
                <a:cs typeface="Arimo Bold"/>
                <a:sym typeface="Arimo Bold"/>
              </a:rPr>
              <a:t>100% Funcional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4901862" y="7234237"/>
            <a:ext cx="2257425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 b="true">
                <a:solidFill>
                  <a:srgbClr val="059669"/>
                </a:solidFill>
                <a:latin typeface="Arimo Bold"/>
                <a:ea typeface="Arimo Bold"/>
                <a:cs typeface="Arimo Bold"/>
                <a:sym typeface="Arimo Bold"/>
              </a:rPr>
              <a:t>100% Funcional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414462" y="3752850"/>
            <a:ext cx="785812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true">
                <a:solidFill>
                  <a:srgbClr val="2563EB"/>
                </a:solidFill>
                <a:latin typeface="Arimo Bold"/>
                <a:ea typeface="Arimo Bold"/>
                <a:cs typeface="Arimo Bold"/>
                <a:sym typeface="Arimo Bold"/>
              </a:rPr>
              <a:t>MOD-01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271588" y="4210050"/>
            <a:ext cx="4238025" cy="376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Ingresos y Gastos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271588" y="4614863"/>
            <a:ext cx="3371850" cy="2188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0"/>
              </a:lnSpc>
            </a:pPr>
            <a:r>
              <a:rPr lang="en-US" sz="2300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Registro detallado de transacciones diarias y administración de gastos recurrentes/suscripciones.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5586412" y="3752850"/>
            <a:ext cx="814388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true">
                <a:solidFill>
                  <a:srgbClr val="059669"/>
                </a:solidFill>
                <a:latin typeface="Arimo Bold"/>
                <a:ea typeface="Arimo Bold"/>
                <a:cs typeface="Arimo Bold"/>
                <a:sym typeface="Arimo Bold"/>
              </a:rPr>
              <a:t>MOD-02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5443538" y="4210050"/>
            <a:ext cx="4238025" cy="376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Presupuestos y Metas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5443538" y="4614863"/>
            <a:ext cx="3371850" cy="23250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2"/>
              </a:lnSpc>
            </a:pPr>
            <a:r>
              <a:rPr lang="en-US" sz="2474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Definición de topes de consumo por categoría y seguimiento activo de metas de ahorro personales.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9758362" y="3752850"/>
            <a:ext cx="814388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true">
                <a:solidFill>
                  <a:srgbClr val="7C3AED"/>
                </a:solidFill>
                <a:latin typeface="Arimo Bold"/>
                <a:ea typeface="Arimo Bold"/>
                <a:cs typeface="Arimo Bold"/>
                <a:sym typeface="Arimo Bold"/>
              </a:rPr>
              <a:t>MOD-03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9615488" y="4219575"/>
            <a:ext cx="1815703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9"/>
              </a:lnSpc>
            </a:pPr>
            <a:r>
              <a:rPr lang="en-US" sz="2449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Estadísticas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9615488" y="4605338"/>
            <a:ext cx="3371850" cy="20126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12"/>
              </a:lnSpc>
            </a:pPr>
            <a:r>
              <a:rPr lang="en-US" sz="2674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Visualización gráfica de distribución de gastos mediante la librería fl_chart.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3930312" y="3752850"/>
            <a:ext cx="828675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MOD-04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3787438" y="4210050"/>
            <a:ext cx="4238025" cy="376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Respaldo Cifrado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3787438" y="4614863"/>
            <a:ext cx="3371850" cy="24164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62"/>
              </a:lnSpc>
            </a:pPr>
            <a:r>
              <a:rPr lang="en-US" sz="2574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Exportación, restauración local e integración de seguridad para la base de datos.</a:t>
            </a:r>
          </a:p>
        </p:txBody>
      </p:sp>
      <p:sp>
        <p:nvSpPr>
          <p:cNvPr name="Freeform 54" id="54"/>
          <p:cNvSpPr/>
          <p:nvPr/>
        </p:nvSpPr>
        <p:spPr>
          <a:xfrm flipH="false" flipV="false" rot="-10151301">
            <a:off x="11164674" y="6546853"/>
            <a:ext cx="8535602" cy="7976908"/>
          </a:xfrm>
          <a:custGeom>
            <a:avLst/>
            <a:gdLst/>
            <a:ahLst/>
            <a:cxnLst/>
            <a:rect r="r" b="b" t="t" l="l"/>
            <a:pathLst>
              <a:path h="7976908" w="8535602">
                <a:moveTo>
                  <a:pt x="0" y="0"/>
                </a:moveTo>
                <a:lnTo>
                  <a:pt x="8535602" y="0"/>
                </a:lnTo>
                <a:lnTo>
                  <a:pt x="8535602" y="7976908"/>
                </a:lnTo>
                <a:lnTo>
                  <a:pt x="0" y="79769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7258697">
            <a:off x="-5099619" y="-8748397"/>
            <a:ext cx="13805122" cy="17698875"/>
          </a:xfrm>
          <a:custGeom>
            <a:avLst/>
            <a:gdLst/>
            <a:ahLst/>
            <a:cxnLst/>
            <a:rect r="r" b="b" t="t" l="l"/>
            <a:pathLst>
              <a:path h="17698875" w="13805122">
                <a:moveTo>
                  <a:pt x="0" y="0"/>
                </a:moveTo>
                <a:lnTo>
                  <a:pt x="13805122" y="0"/>
                </a:lnTo>
                <a:lnTo>
                  <a:pt x="13805122" y="17698875"/>
                </a:lnTo>
                <a:lnTo>
                  <a:pt x="0" y="176988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-7258697">
            <a:off x="11642397" y="-1940805"/>
            <a:ext cx="13805122" cy="17698875"/>
          </a:xfrm>
          <a:custGeom>
            <a:avLst/>
            <a:gdLst/>
            <a:ahLst/>
            <a:cxnLst/>
            <a:rect r="r" b="b" t="t" l="l"/>
            <a:pathLst>
              <a:path h="17698875" w="13805122">
                <a:moveTo>
                  <a:pt x="0" y="0"/>
                </a:moveTo>
                <a:lnTo>
                  <a:pt x="13805122" y="0"/>
                </a:lnTo>
                <a:lnTo>
                  <a:pt x="13805122" y="17698874"/>
                </a:lnTo>
                <a:lnTo>
                  <a:pt x="0" y="176988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4" id="4"/>
          <p:cNvGrpSpPr/>
          <p:nvPr/>
        </p:nvGrpSpPr>
        <p:grpSpPr>
          <a:xfrm rot="0">
            <a:off x="15130462" y="800100"/>
            <a:ext cx="2243138" cy="414338"/>
            <a:chOff x="0" y="0"/>
            <a:chExt cx="2990850" cy="5524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990850" cy="552450"/>
            </a:xfrm>
            <a:custGeom>
              <a:avLst/>
              <a:gdLst/>
              <a:ahLst/>
              <a:cxnLst/>
              <a:rect r="r" b="b" t="t" l="l"/>
              <a:pathLst>
                <a:path h="552450" w="2990850">
                  <a:moveTo>
                    <a:pt x="0" y="114300"/>
                  </a:moveTo>
                  <a:cubicBezTo>
                    <a:pt x="0" y="51181"/>
                    <a:pt x="51181" y="0"/>
                    <a:pt x="114300" y="0"/>
                  </a:cubicBezTo>
                  <a:lnTo>
                    <a:pt x="2876550" y="0"/>
                  </a:lnTo>
                  <a:cubicBezTo>
                    <a:pt x="2939669" y="0"/>
                    <a:pt x="2990850" y="51181"/>
                    <a:pt x="2990850" y="114300"/>
                  </a:cubicBezTo>
                  <a:lnTo>
                    <a:pt x="2990850" y="438150"/>
                  </a:lnTo>
                  <a:cubicBezTo>
                    <a:pt x="2990850" y="501269"/>
                    <a:pt x="2939669" y="552450"/>
                    <a:pt x="2876550" y="552450"/>
                  </a:cubicBezTo>
                  <a:lnTo>
                    <a:pt x="114300" y="552450"/>
                  </a:lnTo>
                  <a:cubicBezTo>
                    <a:pt x="51181" y="552450"/>
                    <a:pt x="0" y="501269"/>
                    <a:pt x="0" y="438150"/>
                  </a:cubicBezTo>
                  <a:close/>
                </a:path>
              </a:pathLst>
            </a:custGeom>
            <a:solidFill>
              <a:srgbClr val="F1F5F9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14400" y="3629025"/>
            <a:ext cx="4914900" cy="4000500"/>
            <a:chOff x="0" y="0"/>
            <a:chExt cx="6553200" cy="5334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553200" cy="5334000"/>
            </a:xfrm>
            <a:custGeom>
              <a:avLst/>
              <a:gdLst/>
              <a:ahLst/>
              <a:cxnLst/>
              <a:rect r="r" b="b" t="t" l="l"/>
              <a:pathLst>
                <a:path h="5334000" w="6553200">
                  <a:moveTo>
                    <a:pt x="0" y="190500"/>
                  </a:moveTo>
                  <a:cubicBezTo>
                    <a:pt x="0" y="85217"/>
                    <a:pt x="85217" y="0"/>
                    <a:pt x="190500" y="0"/>
                  </a:cubicBezTo>
                  <a:lnTo>
                    <a:pt x="6362700" y="0"/>
                  </a:lnTo>
                  <a:cubicBezTo>
                    <a:pt x="6467856" y="0"/>
                    <a:pt x="6553200" y="85217"/>
                    <a:pt x="6553200" y="190500"/>
                  </a:cubicBezTo>
                  <a:lnTo>
                    <a:pt x="6553200" y="5143500"/>
                  </a:lnTo>
                  <a:cubicBezTo>
                    <a:pt x="6553200" y="5248656"/>
                    <a:pt x="6467983" y="5334000"/>
                    <a:pt x="6362700" y="5334000"/>
                  </a:cubicBezTo>
                  <a:lnTo>
                    <a:pt x="190500" y="5334000"/>
                  </a:lnTo>
                  <a:cubicBezTo>
                    <a:pt x="85344" y="5334000"/>
                    <a:pt x="0" y="5248783"/>
                    <a:pt x="0" y="514350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686550" y="3629025"/>
            <a:ext cx="4914900" cy="4000500"/>
            <a:chOff x="0" y="0"/>
            <a:chExt cx="6553200" cy="5334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553200" cy="5334000"/>
            </a:xfrm>
            <a:custGeom>
              <a:avLst/>
              <a:gdLst/>
              <a:ahLst/>
              <a:cxnLst/>
              <a:rect r="r" b="b" t="t" l="l"/>
              <a:pathLst>
                <a:path h="5334000" w="6553200">
                  <a:moveTo>
                    <a:pt x="0" y="190500"/>
                  </a:moveTo>
                  <a:cubicBezTo>
                    <a:pt x="0" y="85217"/>
                    <a:pt x="85217" y="0"/>
                    <a:pt x="190500" y="0"/>
                  </a:cubicBezTo>
                  <a:lnTo>
                    <a:pt x="6362700" y="0"/>
                  </a:lnTo>
                  <a:cubicBezTo>
                    <a:pt x="6467856" y="0"/>
                    <a:pt x="6553200" y="85217"/>
                    <a:pt x="6553200" y="190500"/>
                  </a:cubicBezTo>
                  <a:lnTo>
                    <a:pt x="6553200" y="5143500"/>
                  </a:lnTo>
                  <a:cubicBezTo>
                    <a:pt x="6553200" y="5248656"/>
                    <a:pt x="6467983" y="5334000"/>
                    <a:pt x="6362700" y="5334000"/>
                  </a:cubicBezTo>
                  <a:lnTo>
                    <a:pt x="190500" y="5334000"/>
                  </a:lnTo>
                  <a:cubicBezTo>
                    <a:pt x="85344" y="5334000"/>
                    <a:pt x="0" y="5248783"/>
                    <a:pt x="0" y="514350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2458700" y="3629025"/>
            <a:ext cx="4914900" cy="4000500"/>
            <a:chOff x="0" y="0"/>
            <a:chExt cx="6553200" cy="5334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553200" cy="5334000"/>
            </a:xfrm>
            <a:custGeom>
              <a:avLst/>
              <a:gdLst/>
              <a:ahLst/>
              <a:cxnLst/>
              <a:rect r="r" b="b" t="t" l="l"/>
              <a:pathLst>
                <a:path h="5334000" w="6553200">
                  <a:moveTo>
                    <a:pt x="0" y="190500"/>
                  </a:moveTo>
                  <a:cubicBezTo>
                    <a:pt x="0" y="85217"/>
                    <a:pt x="85217" y="0"/>
                    <a:pt x="190500" y="0"/>
                  </a:cubicBezTo>
                  <a:lnTo>
                    <a:pt x="6362700" y="0"/>
                  </a:lnTo>
                  <a:cubicBezTo>
                    <a:pt x="6467856" y="0"/>
                    <a:pt x="6553200" y="85217"/>
                    <a:pt x="6553200" y="190500"/>
                  </a:cubicBezTo>
                  <a:lnTo>
                    <a:pt x="6553200" y="5143500"/>
                  </a:lnTo>
                  <a:cubicBezTo>
                    <a:pt x="6553200" y="5248656"/>
                    <a:pt x="6467983" y="5334000"/>
                    <a:pt x="6362700" y="5334000"/>
                  </a:cubicBezTo>
                  <a:lnTo>
                    <a:pt x="190500" y="5334000"/>
                  </a:lnTo>
                  <a:cubicBezTo>
                    <a:pt x="85344" y="5334000"/>
                    <a:pt x="0" y="5248783"/>
                    <a:pt x="0" y="514350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914400" y="7615238"/>
            <a:ext cx="4914900" cy="14288"/>
            <a:chOff x="0" y="0"/>
            <a:chExt cx="6553200" cy="1905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553200" cy="19050"/>
            </a:xfrm>
            <a:custGeom>
              <a:avLst/>
              <a:gdLst/>
              <a:ahLst/>
              <a:cxnLst/>
              <a:rect r="r" b="b" t="t" l="l"/>
              <a:pathLst>
                <a:path h="19050" w="6553200">
                  <a:moveTo>
                    <a:pt x="0" y="0"/>
                  </a:moveTo>
                  <a:lnTo>
                    <a:pt x="6553200" y="0"/>
                  </a:lnTo>
                  <a:lnTo>
                    <a:pt x="65532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914400" y="3629025"/>
            <a:ext cx="4914900" cy="57150"/>
            <a:chOff x="0" y="0"/>
            <a:chExt cx="6553200" cy="762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553200" cy="76200"/>
            </a:xfrm>
            <a:custGeom>
              <a:avLst/>
              <a:gdLst/>
              <a:ahLst/>
              <a:cxnLst/>
              <a:rect r="r" b="b" t="t" l="l"/>
              <a:pathLst>
                <a:path h="76200" w="6553200">
                  <a:moveTo>
                    <a:pt x="0" y="0"/>
                  </a:moveTo>
                  <a:lnTo>
                    <a:pt x="6553200" y="0"/>
                  </a:lnTo>
                  <a:lnTo>
                    <a:pt x="65532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38BDF8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914400" y="3629025"/>
            <a:ext cx="14288" cy="4000500"/>
            <a:chOff x="0" y="0"/>
            <a:chExt cx="19050" cy="5334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9050" cy="5334000"/>
            </a:xfrm>
            <a:custGeom>
              <a:avLst/>
              <a:gdLst/>
              <a:ahLst/>
              <a:cxnLst/>
              <a:rect r="r" b="b" t="t" l="l"/>
              <a:pathLst>
                <a:path h="5334000" w="19050">
                  <a:moveTo>
                    <a:pt x="0" y="0"/>
                  </a:moveTo>
                  <a:lnTo>
                    <a:pt x="19050" y="0"/>
                  </a:lnTo>
                  <a:lnTo>
                    <a:pt x="19050" y="5334000"/>
                  </a:lnTo>
                  <a:lnTo>
                    <a:pt x="0" y="53340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5815012" y="3629025"/>
            <a:ext cx="14288" cy="4000500"/>
            <a:chOff x="0" y="0"/>
            <a:chExt cx="19050" cy="5334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9050" cy="5334000"/>
            </a:xfrm>
            <a:custGeom>
              <a:avLst/>
              <a:gdLst/>
              <a:ahLst/>
              <a:cxnLst/>
              <a:rect r="r" b="b" t="t" l="l"/>
              <a:pathLst>
                <a:path h="5334000" w="19050">
                  <a:moveTo>
                    <a:pt x="0" y="0"/>
                  </a:moveTo>
                  <a:lnTo>
                    <a:pt x="19050" y="0"/>
                  </a:lnTo>
                  <a:lnTo>
                    <a:pt x="19050" y="5334000"/>
                  </a:lnTo>
                  <a:lnTo>
                    <a:pt x="0" y="53340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271588" y="6815138"/>
            <a:ext cx="4200525" cy="457200"/>
            <a:chOff x="0" y="0"/>
            <a:chExt cx="5600700" cy="6096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600700" cy="609600"/>
            </a:xfrm>
            <a:custGeom>
              <a:avLst/>
              <a:gdLst/>
              <a:ahLst/>
              <a:cxnLst/>
              <a:rect r="r" b="b" t="t" l="l"/>
              <a:pathLst>
                <a:path h="609600" w="5600700">
                  <a:moveTo>
                    <a:pt x="0" y="114300"/>
                  </a:moveTo>
                  <a:cubicBezTo>
                    <a:pt x="0" y="51181"/>
                    <a:pt x="51181" y="0"/>
                    <a:pt x="114300" y="0"/>
                  </a:cubicBezTo>
                  <a:lnTo>
                    <a:pt x="5486400" y="0"/>
                  </a:lnTo>
                  <a:cubicBezTo>
                    <a:pt x="5549519" y="0"/>
                    <a:pt x="5600700" y="51181"/>
                    <a:pt x="5600700" y="114300"/>
                  </a:cubicBezTo>
                  <a:lnTo>
                    <a:pt x="5600700" y="495300"/>
                  </a:lnTo>
                  <a:cubicBezTo>
                    <a:pt x="5600700" y="558419"/>
                    <a:pt x="5549519" y="609600"/>
                    <a:pt x="5486400" y="609600"/>
                  </a:cubicBezTo>
                  <a:lnTo>
                    <a:pt x="114300" y="609600"/>
                  </a:lnTo>
                  <a:cubicBezTo>
                    <a:pt x="51181" y="609600"/>
                    <a:pt x="0" y="558419"/>
                    <a:pt x="0" y="495300"/>
                  </a:cubicBezTo>
                  <a:close/>
                </a:path>
              </a:pathLst>
            </a:custGeom>
            <a:solidFill>
              <a:srgbClr val="F8FAFC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6686550" y="7615238"/>
            <a:ext cx="4914900" cy="14288"/>
            <a:chOff x="0" y="0"/>
            <a:chExt cx="6553200" cy="1905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553200" cy="19050"/>
            </a:xfrm>
            <a:custGeom>
              <a:avLst/>
              <a:gdLst/>
              <a:ahLst/>
              <a:cxnLst/>
              <a:rect r="r" b="b" t="t" l="l"/>
              <a:pathLst>
                <a:path h="19050" w="6553200">
                  <a:moveTo>
                    <a:pt x="0" y="0"/>
                  </a:moveTo>
                  <a:lnTo>
                    <a:pt x="6553200" y="0"/>
                  </a:lnTo>
                  <a:lnTo>
                    <a:pt x="65532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6686550" y="3629025"/>
            <a:ext cx="4914900" cy="57150"/>
            <a:chOff x="0" y="0"/>
            <a:chExt cx="6553200" cy="762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553200" cy="76200"/>
            </a:xfrm>
            <a:custGeom>
              <a:avLst/>
              <a:gdLst/>
              <a:ahLst/>
              <a:cxnLst/>
              <a:rect r="r" b="b" t="t" l="l"/>
              <a:pathLst>
                <a:path h="76200" w="6553200">
                  <a:moveTo>
                    <a:pt x="0" y="0"/>
                  </a:moveTo>
                  <a:lnTo>
                    <a:pt x="6553200" y="0"/>
                  </a:lnTo>
                  <a:lnTo>
                    <a:pt x="65532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6686550" y="3629025"/>
            <a:ext cx="14288" cy="4000500"/>
            <a:chOff x="0" y="0"/>
            <a:chExt cx="19050" cy="53340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9050" cy="5334000"/>
            </a:xfrm>
            <a:custGeom>
              <a:avLst/>
              <a:gdLst/>
              <a:ahLst/>
              <a:cxnLst/>
              <a:rect r="r" b="b" t="t" l="l"/>
              <a:pathLst>
                <a:path h="5334000" w="19050">
                  <a:moveTo>
                    <a:pt x="0" y="0"/>
                  </a:moveTo>
                  <a:lnTo>
                    <a:pt x="19050" y="0"/>
                  </a:lnTo>
                  <a:lnTo>
                    <a:pt x="19050" y="5334000"/>
                  </a:lnTo>
                  <a:lnTo>
                    <a:pt x="0" y="53340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1587162" y="3629025"/>
            <a:ext cx="14288" cy="4000500"/>
            <a:chOff x="0" y="0"/>
            <a:chExt cx="19050" cy="53340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9050" cy="5334000"/>
            </a:xfrm>
            <a:custGeom>
              <a:avLst/>
              <a:gdLst/>
              <a:ahLst/>
              <a:cxnLst/>
              <a:rect r="r" b="b" t="t" l="l"/>
              <a:pathLst>
                <a:path h="5334000" w="19050">
                  <a:moveTo>
                    <a:pt x="0" y="0"/>
                  </a:moveTo>
                  <a:lnTo>
                    <a:pt x="19050" y="0"/>
                  </a:lnTo>
                  <a:lnTo>
                    <a:pt x="19050" y="5334000"/>
                  </a:lnTo>
                  <a:lnTo>
                    <a:pt x="0" y="53340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7043738" y="6815138"/>
            <a:ext cx="4200525" cy="457200"/>
            <a:chOff x="0" y="0"/>
            <a:chExt cx="5600700" cy="6096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600700" cy="609600"/>
            </a:xfrm>
            <a:custGeom>
              <a:avLst/>
              <a:gdLst/>
              <a:ahLst/>
              <a:cxnLst/>
              <a:rect r="r" b="b" t="t" l="l"/>
              <a:pathLst>
                <a:path h="609600" w="5600700">
                  <a:moveTo>
                    <a:pt x="0" y="114300"/>
                  </a:moveTo>
                  <a:cubicBezTo>
                    <a:pt x="0" y="51181"/>
                    <a:pt x="51181" y="0"/>
                    <a:pt x="114300" y="0"/>
                  </a:cubicBezTo>
                  <a:lnTo>
                    <a:pt x="5486400" y="0"/>
                  </a:lnTo>
                  <a:cubicBezTo>
                    <a:pt x="5549519" y="0"/>
                    <a:pt x="5600700" y="51181"/>
                    <a:pt x="5600700" y="114300"/>
                  </a:cubicBezTo>
                  <a:lnTo>
                    <a:pt x="5600700" y="495300"/>
                  </a:lnTo>
                  <a:cubicBezTo>
                    <a:pt x="5600700" y="558419"/>
                    <a:pt x="5549519" y="609600"/>
                    <a:pt x="5486400" y="609600"/>
                  </a:cubicBezTo>
                  <a:lnTo>
                    <a:pt x="114300" y="609600"/>
                  </a:lnTo>
                  <a:cubicBezTo>
                    <a:pt x="51181" y="609600"/>
                    <a:pt x="0" y="558419"/>
                    <a:pt x="0" y="495300"/>
                  </a:cubicBezTo>
                  <a:close/>
                </a:path>
              </a:pathLst>
            </a:custGeom>
            <a:solidFill>
              <a:srgbClr val="F8FAFC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2458700" y="7615238"/>
            <a:ext cx="4914900" cy="14288"/>
            <a:chOff x="0" y="0"/>
            <a:chExt cx="6553200" cy="1905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553200" cy="19050"/>
            </a:xfrm>
            <a:custGeom>
              <a:avLst/>
              <a:gdLst/>
              <a:ahLst/>
              <a:cxnLst/>
              <a:rect r="r" b="b" t="t" l="l"/>
              <a:pathLst>
                <a:path h="19050" w="6553200">
                  <a:moveTo>
                    <a:pt x="0" y="0"/>
                  </a:moveTo>
                  <a:lnTo>
                    <a:pt x="6553200" y="0"/>
                  </a:lnTo>
                  <a:lnTo>
                    <a:pt x="65532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2458700" y="3629025"/>
            <a:ext cx="4914900" cy="57150"/>
            <a:chOff x="0" y="0"/>
            <a:chExt cx="6553200" cy="762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6553200" cy="76200"/>
            </a:xfrm>
            <a:custGeom>
              <a:avLst/>
              <a:gdLst/>
              <a:ahLst/>
              <a:cxnLst/>
              <a:rect r="r" b="b" t="t" l="l"/>
              <a:pathLst>
                <a:path h="76200" w="6553200">
                  <a:moveTo>
                    <a:pt x="0" y="0"/>
                  </a:moveTo>
                  <a:lnTo>
                    <a:pt x="6553200" y="0"/>
                  </a:lnTo>
                  <a:lnTo>
                    <a:pt x="65532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A855F7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2458700" y="3629025"/>
            <a:ext cx="14288" cy="4000500"/>
            <a:chOff x="0" y="0"/>
            <a:chExt cx="19050" cy="53340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9050" cy="5334000"/>
            </a:xfrm>
            <a:custGeom>
              <a:avLst/>
              <a:gdLst/>
              <a:ahLst/>
              <a:cxnLst/>
              <a:rect r="r" b="b" t="t" l="l"/>
              <a:pathLst>
                <a:path h="5334000" w="19050">
                  <a:moveTo>
                    <a:pt x="0" y="0"/>
                  </a:moveTo>
                  <a:lnTo>
                    <a:pt x="19050" y="0"/>
                  </a:lnTo>
                  <a:lnTo>
                    <a:pt x="19050" y="5334000"/>
                  </a:lnTo>
                  <a:lnTo>
                    <a:pt x="0" y="53340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7359312" y="3629025"/>
            <a:ext cx="14288" cy="4000500"/>
            <a:chOff x="0" y="0"/>
            <a:chExt cx="19050" cy="53340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9050" cy="5334000"/>
            </a:xfrm>
            <a:custGeom>
              <a:avLst/>
              <a:gdLst/>
              <a:ahLst/>
              <a:cxnLst/>
              <a:rect r="r" b="b" t="t" l="l"/>
              <a:pathLst>
                <a:path h="5334000" w="19050">
                  <a:moveTo>
                    <a:pt x="0" y="0"/>
                  </a:moveTo>
                  <a:lnTo>
                    <a:pt x="19050" y="0"/>
                  </a:lnTo>
                  <a:lnTo>
                    <a:pt x="19050" y="5334000"/>
                  </a:lnTo>
                  <a:lnTo>
                    <a:pt x="0" y="53340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2815888" y="6815138"/>
            <a:ext cx="4200525" cy="457200"/>
            <a:chOff x="0" y="0"/>
            <a:chExt cx="5600700" cy="6096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5600700" cy="609600"/>
            </a:xfrm>
            <a:custGeom>
              <a:avLst/>
              <a:gdLst/>
              <a:ahLst/>
              <a:cxnLst/>
              <a:rect r="r" b="b" t="t" l="l"/>
              <a:pathLst>
                <a:path h="609600" w="5600700">
                  <a:moveTo>
                    <a:pt x="0" y="114300"/>
                  </a:moveTo>
                  <a:cubicBezTo>
                    <a:pt x="0" y="51181"/>
                    <a:pt x="51181" y="0"/>
                    <a:pt x="114300" y="0"/>
                  </a:cubicBezTo>
                  <a:lnTo>
                    <a:pt x="5486400" y="0"/>
                  </a:lnTo>
                  <a:cubicBezTo>
                    <a:pt x="5549519" y="0"/>
                    <a:pt x="5600700" y="51181"/>
                    <a:pt x="5600700" y="114300"/>
                  </a:cubicBezTo>
                  <a:lnTo>
                    <a:pt x="5600700" y="495300"/>
                  </a:lnTo>
                  <a:cubicBezTo>
                    <a:pt x="5600700" y="558419"/>
                    <a:pt x="5549519" y="609600"/>
                    <a:pt x="5486400" y="609600"/>
                  </a:cubicBezTo>
                  <a:lnTo>
                    <a:pt x="114300" y="609600"/>
                  </a:lnTo>
                  <a:cubicBezTo>
                    <a:pt x="51181" y="609600"/>
                    <a:pt x="0" y="558419"/>
                    <a:pt x="0" y="495300"/>
                  </a:cubicBezTo>
                  <a:close/>
                </a:path>
              </a:pathLst>
            </a:custGeom>
            <a:solidFill>
              <a:srgbClr val="F8FAFC"/>
            </a:solidFill>
          </p:spPr>
        </p:sp>
      </p:grpSp>
      <p:sp>
        <p:nvSpPr>
          <p:cNvPr name="TextBox 42" id="42"/>
          <p:cNvSpPr txBox="true"/>
          <p:nvPr/>
        </p:nvSpPr>
        <p:spPr>
          <a:xfrm rot="0">
            <a:off x="15330488" y="876300"/>
            <a:ext cx="1985962" cy="252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 b="true">
                <a:solidFill>
                  <a:srgbClr val="475569"/>
                </a:solidFill>
                <a:latin typeface="Arimo Bold"/>
                <a:ea typeface="Arimo Bold"/>
                <a:cs typeface="Arimo Bold"/>
                <a:sym typeface="Arimo Bold"/>
              </a:rPr>
              <a:t>Stack: Mobile Native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6115050" y="5424488"/>
            <a:ext cx="714375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→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1887200" y="5424488"/>
            <a:ext cx="714375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→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914400" y="790575"/>
            <a:ext cx="9983391" cy="252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 b="true">
                <a:solidFill>
                  <a:srgbClr val="6366F1"/>
                </a:solidFill>
                <a:latin typeface="Arimo Bold"/>
                <a:ea typeface="Arimo Bold"/>
                <a:cs typeface="Arimo Bold"/>
                <a:sym typeface="Arimo Bold"/>
              </a:rPr>
              <a:t>// 03. ARQUITECTURA Y STACK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914400" y="1109662"/>
            <a:ext cx="10482558" cy="6619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b="true" sz="4050">
                <a:solidFill>
                  <a:srgbClr val="F8FAFC"/>
                </a:solidFill>
                <a:latin typeface="Arimo Bold"/>
                <a:ea typeface="Arimo Bold"/>
                <a:cs typeface="Arimo Bold"/>
                <a:sym typeface="Arimo Bold"/>
              </a:rPr>
              <a:t>Estructura Técnica del Software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271588" y="4010025"/>
            <a:ext cx="4343400" cy="15763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CAPA DE PRESENTACIÓN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443038" y="6910388"/>
            <a:ext cx="4000500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→ UI/UX &amp; Controls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7043738" y="4010025"/>
            <a:ext cx="4343400" cy="15763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LÓGICA DE NEGOCIO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7215188" y="6910388"/>
            <a:ext cx="4000500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→ State Management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2815888" y="4010025"/>
            <a:ext cx="4343400" cy="15763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PERSISTENCIA &amp; SEGURIDAD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2987338" y="6910388"/>
            <a:ext cx="4000500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→ Local Secure DB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271588" y="4462463"/>
            <a:ext cx="5513184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Flutter &amp; Dart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271588" y="4900612"/>
            <a:ext cx="4343400" cy="1391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2"/>
              </a:lnSpc>
            </a:pPr>
            <a:r>
              <a:rPr lang="en-US" sz="2474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Interfaz gráfica multiplataforma basada en widgets reactivos y diseño adaptativo.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7043738" y="4462463"/>
            <a:ext cx="5513184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Riverpod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7043738" y="4910138"/>
            <a:ext cx="4343400" cy="13287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374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Gestión del estado global desacoplada, asegurando reactividad limpia y mantenible.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2815888" y="4462463"/>
            <a:ext cx="54721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Drift + SQLite Cifrado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2815888" y="4900613"/>
            <a:ext cx="4343400" cy="1391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2"/>
              </a:lnSpc>
            </a:pPr>
            <a:r>
              <a:rPr lang="en-US" sz="2474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Base de datos relacional local protegida mediante llaves de cifrado en el dispositivo.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587662" y="800100"/>
            <a:ext cx="1785938" cy="414338"/>
            <a:chOff x="0" y="0"/>
            <a:chExt cx="2381250" cy="5524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81250" cy="552450"/>
            </a:xfrm>
            <a:custGeom>
              <a:avLst/>
              <a:gdLst/>
              <a:ahLst/>
              <a:cxnLst/>
              <a:rect r="r" b="b" t="t" l="l"/>
              <a:pathLst>
                <a:path h="552450" w="2381250">
                  <a:moveTo>
                    <a:pt x="0" y="114300"/>
                  </a:moveTo>
                  <a:cubicBezTo>
                    <a:pt x="0" y="51181"/>
                    <a:pt x="51181" y="0"/>
                    <a:pt x="114300" y="0"/>
                  </a:cubicBezTo>
                  <a:lnTo>
                    <a:pt x="2266950" y="0"/>
                  </a:lnTo>
                  <a:cubicBezTo>
                    <a:pt x="2330069" y="0"/>
                    <a:pt x="2381250" y="51181"/>
                    <a:pt x="2381250" y="114300"/>
                  </a:cubicBezTo>
                  <a:lnTo>
                    <a:pt x="2381250" y="438150"/>
                  </a:lnTo>
                  <a:cubicBezTo>
                    <a:pt x="2381250" y="501269"/>
                    <a:pt x="2330069" y="552450"/>
                    <a:pt x="2266950" y="552450"/>
                  </a:cubicBezTo>
                  <a:lnTo>
                    <a:pt x="114300" y="552450"/>
                  </a:lnTo>
                  <a:cubicBezTo>
                    <a:pt x="51181" y="552450"/>
                    <a:pt x="0" y="501269"/>
                    <a:pt x="0" y="438150"/>
                  </a:cubicBezTo>
                  <a:close/>
                </a:path>
              </a:pathLst>
            </a:custGeom>
            <a:solidFill>
              <a:srgbClr val="F1F5F9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07256" y="3336131"/>
            <a:ext cx="16473488" cy="1028700"/>
            <a:chOff x="0" y="0"/>
            <a:chExt cx="21964650" cy="1371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64650" cy="1371600"/>
            </a:xfrm>
            <a:custGeom>
              <a:avLst/>
              <a:gdLst/>
              <a:ahLst/>
              <a:cxnLst/>
              <a:rect r="r" b="b" t="t" l="l"/>
              <a:pathLst>
                <a:path h="1371600" w="21964650">
                  <a:moveTo>
                    <a:pt x="0" y="154559"/>
                  </a:moveTo>
                  <a:cubicBezTo>
                    <a:pt x="0" y="69215"/>
                    <a:pt x="69215" y="0"/>
                    <a:pt x="154559" y="0"/>
                  </a:cubicBezTo>
                  <a:lnTo>
                    <a:pt x="21810090" y="0"/>
                  </a:lnTo>
                  <a:cubicBezTo>
                    <a:pt x="21895434" y="0"/>
                    <a:pt x="21964650" y="69215"/>
                    <a:pt x="21964650" y="154559"/>
                  </a:cubicBezTo>
                  <a:lnTo>
                    <a:pt x="21964650" y="1217041"/>
                  </a:lnTo>
                  <a:cubicBezTo>
                    <a:pt x="21964650" y="1302385"/>
                    <a:pt x="21895434" y="1371600"/>
                    <a:pt x="21810090" y="1371600"/>
                  </a:cubicBezTo>
                  <a:lnTo>
                    <a:pt x="154559" y="1371600"/>
                  </a:lnTo>
                  <a:cubicBezTo>
                    <a:pt x="69215" y="1371600"/>
                    <a:pt x="0" y="1302385"/>
                    <a:pt x="0" y="1217041"/>
                  </a:cubicBezTo>
                  <a:close/>
                </a:path>
              </a:pathLst>
            </a:custGeom>
            <a:solidFill>
              <a:srgbClr val="F8FAFC"/>
            </a:solidFill>
            <a:ln w="14288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907256" y="4521994"/>
            <a:ext cx="16473488" cy="1028700"/>
            <a:chOff x="0" y="0"/>
            <a:chExt cx="21964650" cy="13716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64650" cy="1371600"/>
            </a:xfrm>
            <a:custGeom>
              <a:avLst/>
              <a:gdLst/>
              <a:ahLst/>
              <a:cxnLst/>
              <a:rect r="r" b="b" t="t" l="l"/>
              <a:pathLst>
                <a:path h="1371600" w="21964650">
                  <a:moveTo>
                    <a:pt x="0" y="154559"/>
                  </a:moveTo>
                  <a:cubicBezTo>
                    <a:pt x="0" y="69215"/>
                    <a:pt x="69215" y="0"/>
                    <a:pt x="154559" y="0"/>
                  </a:cubicBezTo>
                  <a:lnTo>
                    <a:pt x="21810090" y="0"/>
                  </a:lnTo>
                  <a:cubicBezTo>
                    <a:pt x="21895434" y="0"/>
                    <a:pt x="21964650" y="69215"/>
                    <a:pt x="21964650" y="154559"/>
                  </a:cubicBezTo>
                  <a:lnTo>
                    <a:pt x="21964650" y="1217041"/>
                  </a:lnTo>
                  <a:cubicBezTo>
                    <a:pt x="21964650" y="1302385"/>
                    <a:pt x="21895434" y="1371600"/>
                    <a:pt x="21810090" y="1371600"/>
                  </a:cubicBezTo>
                  <a:lnTo>
                    <a:pt x="154559" y="1371600"/>
                  </a:lnTo>
                  <a:cubicBezTo>
                    <a:pt x="69215" y="1371600"/>
                    <a:pt x="0" y="1302385"/>
                    <a:pt x="0" y="1217041"/>
                  </a:cubicBezTo>
                  <a:close/>
                </a:path>
              </a:pathLst>
            </a:custGeom>
            <a:solidFill>
              <a:srgbClr val="F8FAFC"/>
            </a:solidFill>
            <a:ln w="14288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907256" y="5707856"/>
            <a:ext cx="16473488" cy="1028700"/>
            <a:chOff x="0" y="0"/>
            <a:chExt cx="21964650" cy="13716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64650" cy="1371600"/>
            </a:xfrm>
            <a:custGeom>
              <a:avLst/>
              <a:gdLst/>
              <a:ahLst/>
              <a:cxnLst/>
              <a:rect r="r" b="b" t="t" l="l"/>
              <a:pathLst>
                <a:path h="1371600" w="21964650">
                  <a:moveTo>
                    <a:pt x="0" y="154559"/>
                  </a:moveTo>
                  <a:cubicBezTo>
                    <a:pt x="0" y="69215"/>
                    <a:pt x="69215" y="0"/>
                    <a:pt x="154559" y="0"/>
                  </a:cubicBezTo>
                  <a:lnTo>
                    <a:pt x="21810090" y="0"/>
                  </a:lnTo>
                  <a:cubicBezTo>
                    <a:pt x="21895434" y="0"/>
                    <a:pt x="21964650" y="69215"/>
                    <a:pt x="21964650" y="154559"/>
                  </a:cubicBezTo>
                  <a:lnTo>
                    <a:pt x="21964650" y="1217041"/>
                  </a:lnTo>
                  <a:cubicBezTo>
                    <a:pt x="21964650" y="1302385"/>
                    <a:pt x="21895434" y="1371600"/>
                    <a:pt x="21810090" y="1371600"/>
                  </a:cubicBezTo>
                  <a:lnTo>
                    <a:pt x="154559" y="1371600"/>
                  </a:lnTo>
                  <a:cubicBezTo>
                    <a:pt x="69215" y="1371600"/>
                    <a:pt x="0" y="1302385"/>
                    <a:pt x="0" y="1217041"/>
                  </a:cubicBezTo>
                  <a:close/>
                </a:path>
              </a:pathLst>
            </a:custGeom>
            <a:solidFill>
              <a:srgbClr val="F8FAFC"/>
            </a:solidFill>
            <a:ln w="14288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5387638" y="3650456"/>
            <a:ext cx="1628775" cy="400050"/>
            <a:chOff x="0" y="0"/>
            <a:chExt cx="2171700" cy="5334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71700" cy="533400"/>
            </a:xfrm>
            <a:custGeom>
              <a:avLst/>
              <a:gdLst/>
              <a:ahLst/>
              <a:cxnLst/>
              <a:rect r="r" b="b" t="t" l="l"/>
              <a:pathLst>
                <a:path h="533400" w="2171700">
                  <a:moveTo>
                    <a:pt x="0" y="266700"/>
                  </a:moveTo>
                  <a:cubicBezTo>
                    <a:pt x="0" y="119380"/>
                    <a:pt x="119380" y="0"/>
                    <a:pt x="266700" y="0"/>
                  </a:cubicBezTo>
                  <a:lnTo>
                    <a:pt x="1905000" y="0"/>
                  </a:lnTo>
                  <a:cubicBezTo>
                    <a:pt x="2052320" y="0"/>
                    <a:pt x="2171700" y="119380"/>
                    <a:pt x="2171700" y="266700"/>
                  </a:cubicBezTo>
                  <a:cubicBezTo>
                    <a:pt x="2171700" y="414020"/>
                    <a:pt x="2052320" y="533400"/>
                    <a:pt x="1905000" y="533400"/>
                  </a:cubicBezTo>
                  <a:lnTo>
                    <a:pt x="266700" y="533400"/>
                  </a:lnTo>
                  <a:cubicBezTo>
                    <a:pt x="119380" y="533400"/>
                    <a:pt x="0" y="414020"/>
                    <a:pt x="0" y="266700"/>
                  </a:cubicBezTo>
                  <a:close/>
                </a:path>
              </a:pathLst>
            </a:custGeom>
            <a:solidFill>
              <a:srgbClr val="DCFCE7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5387638" y="4836319"/>
            <a:ext cx="1628775" cy="400050"/>
            <a:chOff x="0" y="0"/>
            <a:chExt cx="2171700" cy="5334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71700" cy="533400"/>
            </a:xfrm>
            <a:custGeom>
              <a:avLst/>
              <a:gdLst/>
              <a:ahLst/>
              <a:cxnLst/>
              <a:rect r="r" b="b" t="t" l="l"/>
              <a:pathLst>
                <a:path h="533400" w="2171700">
                  <a:moveTo>
                    <a:pt x="0" y="266700"/>
                  </a:moveTo>
                  <a:cubicBezTo>
                    <a:pt x="0" y="119380"/>
                    <a:pt x="119380" y="0"/>
                    <a:pt x="266700" y="0"/>
                  </a:cubicBezTo>
                  <a:lnTo>
                    <a:pt x="1905000" y="0"/>
                  </a:lnTo>
                  <a:cubicBezTo>
                    <a:pt x="2052320" y="0"/>
                    <a:pt x="2171700" y="119380"/>
                    <a:pt x="2171700" y="266700"/>
                  </a:cubicBezTo>
                  <a:cubicBezTo>
                    <a:pt x="2171700" y="414020"/>
                    <a:pt x="2052320" y="533400"/>
                    <a:pt x="1905000" y="533400"/>
                  </a:cubicBezTo>
                  <a:lnTo>
                    <a:pt x="266700" y="533400"/>
                  </a:lnTo>
                  <a:cubicBezTo>
                    <a:pt x="119380" y="533400"/>
                    <a:pt x="0" y="414020"/>
                    <a:pt x="0" y="266700"/>
                  </a:cubicBezTo>
                  <a:close/>
                </a:path>
              </a:pathLst>
            </a:custGeom>
            <a:solidFill>
              <a:srgbClr val="DCFCE7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5387638" y="6022181"/>
            <a:ext cx="1628775" cy="400050"/>
            <a:chOff x="0" y="0"/>
            <a:chExt cx="2171700" cy="5334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71700" cy="533400"/>
            </a:xfrm>
            <a:custGeom>
              <a:avLst/>
              <a:gdLst/>
              <a:ahLst/>
              <a:cxnLst/>
              <a:rect r="r" b="b" t="t" l="l"/>
              <a:pathLst>
                <a:path h="533400" w="2171700">
                  <a:moveTo>
                    <a:pt x="0" y="266700"/>
                  </a:moveTo>
                  <a:cubicBezTo>
                    <a:pt x="0" y="119380"/>
                    <a:pt x="119380" y="0"/>
                    <a:pt x="266700" y="0"/>
                  </a:cubicBezTo>
                  <a:lnTo>
                    <a:pt x="1905000" y="0"/>
                  </a:lnTo>
                  <a:cubicBezTo>
                    <a:pt x="2052320" y="0"/>
                    <a:pt x="2171700" y="119380"/>
                    <a:pt x="2171700" y="266700"/>
                  </a:cubicBezTo>
                  <a:cubicBezTo>
                    <a:pt x="2171700" y="414020"/>
                    <a:pt x="2052320" y="533400"/>
                    <a:pt x="1905000" y="533400"/>
                  </a:cubicBezTo>
                  <a:lnTo>
                    <a:pt x="266700" y="533400"/>
                  </a:lnTo>
                  <a:cubicBezTo>
                    <a:pt x="119380" y="533400"/>
                    <a:pt x="0" y="414020"/>
                    <a:pt x="0" y="266700"/>
                  </a:cubicBezTo>
                  <a:close/>
                </a:path>
              </a:pathLst>
            </a:custGeom>
            <a:solidFill>
              <a:srgbClr val="DCFCE7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5687675" y="7208044"/>
            <a:ext cx="1328738" cy="400050"/>
            <a:chOff x="0" y="0"/>
            <a:chExt cx="1771650" cy="5334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771650" cy="533400"/>
            </a:xfrm>
            <a:custGeom>
              <a:avLst/>
              <a:gdLst/>
              <a:ahLst/>
              <a:cxnLst/>
              <a:rect r="r" b="b" t="t" l="l"/>
              <a:pathLst>
                <a:path h="533400" w="1771650">
                  <a:moveTo>
                    <a:pt x="0" y="266700"/>
                  </a:moveTo>
                  <a:cubicBezTo>
                    <a:pt x="0" y="119380"/>
                    <a:pt x="119380" y="0"/>
                    <a:pt x="266700" y="0"/>
                  </a:cubicBezTo>
                  <a:lnTo>
                    <a:pt x="1504950" y="0"/>
                  </a:lnTo>
                  <a:cubicBezTo>
                    <a:pt x="1652270" y="0"/>
                    <a:pt x="1771650" y="119380"/>
                    <a:pt x="1771650" y="266700"/>
                  </a:cubicBezTo>
                  <a:cubicBezTo>
                    <a:pt x="1771650" y="414020"/>
                    <a:pt x="1652270" y="533400"/>
                    <a:pt x="1504950" y="533400"/>
                  </a:cubicBezTo>
                  <a:lnTo>
                    <a:pt x="266700" y="533400"/>
                  </a:lnTo>
                  <a:cubicBezTo>
                    <a:pt x="119380" y="533400"/>
                    <a:pt x="0" y="414020"/>
                    <a:pt x="0" y="266700"/>
                  </a:cubicBezTo>
                  <a:close/>
                </a:path>
              </a:pathLst>
            </a:custGeom>
            <a:solidFill>
              <a:srgbClr val="FEF3C7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5759112" y="876300"/>
            <a:ext cx="1585912" cy="252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Control de Hitos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14400" y="790575"/>
            <a:ext cx="9179719" cy="252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 b="true">
                <a:solidFill>
                  <a:srgbClr val="6366F1"/>
                </a:solidFill>
                <a:latin typeface="Arimo Bold"/>
                <a:ea typeface="Arimo Bold"/>
                <a:cs typeface="Arimo Bold"/>
                <a:sym typeface="Arimo Bold"/>
              </a:rPr>
              <a:t>// 04. SEGUIMIENTO DE ACTIVIDADES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14400" y="1109662"/>
            <a:ext cx="9638700" cy="6619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sz="4050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Monitoreo del Plan de Trabajo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741170" y="3719513"/>
            <a:ext cx="7058082" cy="252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Flutter / Drift / SQLite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5587662" y="3717131"/>
            <a:ext cx="1371600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true">
                <a:solidFill>
                  <a:srgbClr val="15803D"/>
                </a:solidFill>
                <a:latin typeface="Arimo Bold"/>
                <a:ea typeface="Arimo Bold"/>
                <a:cs typeface="Arimo Bold"/>
                <a:sym typeface="Arimo Bold"/>
              </a:rPr>
              <a:t>[COMPLETADO]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741170" y="4905375"/>
            <a:ext cx="7058082" cy="252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Riverpod State Manager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5587662" y="4902994"/>
            <a:ext cx="1371600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true">
                <a:solidFill>
                  <a:srgbClr val="15803D"/>
                </a:solidFill>
                <a:latin typeface="Arimo Bold"/>
                <a:ea typeface="Arimo Bold"/>
                <a:cs typeface="Arimo Bold"/>
                <a:sym typeface="Arimo Bold"/>
              </a:rPr>
              <a:t>[COMPLETADO]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741170" y="6091237"/>
            <a:ext cx="7058082" cy="252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fl_chart / Secure Storage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5587662" y="6088856"/>
            <a:ext cx="1371600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true">
                <a:solidFill>
                  <a:srgbClr val="15803D"/>
                </a:solidFill>
                <a:latin typeface="Arimo Bold"/>
                <a:ea typeface="Arimo Bold"/>
                <a:cs typeface="Arimo Bold"/>
                <a:sym typeface="Arimo Bold"/>
              </a:rPr>
              <a:t>[COMPLETADO]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921326" y="7277100"/>
            <a:ext cx="7207929" cy="252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>
                <a:solidFill>
                  <a:srgbClr val="B45309"/>
                </a:solidFill>
                <a:latin typeface="Arimo"/>
                <a:ea typeface="Arimo"/>
                <a:cs typeface="Arimo"/>
                <a:sym typeface="Arimo"/>
              </a:rPr>
              <a:t>Flutter Test Suite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5887700" y="7274719"/>
            <a:ext cx="1071562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true">
                <a:solidFill>
                  <a:srgbClr val="B45309"/>
                </a:solidFill>
                <a:latin typeface="Arimo Bold"/>
                <a:ea typeface="Arimo Bold"/>
                <a:cs typeface="Arimo Bold"/>
                <a:sym typeface="Arimo Bold"/>
              </a:rPr>
              <a:t>[EN CURSO]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71588" y="3567112"/>
            <a:ext cx="10586980" cy="319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Módulos de Ingresos, Gastos y Presupuestos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71588" y="3876675"/>
            <a:ext cx="10586980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Implementación de lógica relacional y transacciones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71588" y="4752975"/>
            <a:ext cx="10586980" cy="319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Gastos Recurrentes y Metas de Ahorro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271588" y="5062537"/>
            <a:ext cx="10586980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Lógica de automatización y cálculo diferido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271588" y="5938838"/>
            <a:ext cx="10586980" cy="319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Visualización Gráfica y Respaldo Local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271588" y="6248400"/>
            <a:ext cx="10586980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Gráficos interactivos y copia cifrada local</a:t>
            </a:r>
          </a:p>
        </p:txBody>
      </p:sp>
      <p:sp>
        <p:nvSpPr>
          <p:cNvPr name="Freeform 35" id="35"/>
          <p:cNvSpPr/>
          <p:nvPr/>
        </p:nvSpPr>
        <p:spPr>
          <a:xfrm flipH="false" flipV="false" rot="3235826">
            <a:off x="-452321" y="8734552"/>
            <a:ext cx="1966466" cy="1884231"/>
          </a:xfrm>
          <a:custGeom>
            <a:avLst/>
            <a:gdLst/>
            <a:ahLst/>
            <a:cxnLst/>
            <a:rect r="r" b="b" t="t" l="l"/>
            <a:pathLst>
              <a:path h="1884231" w="1966466">
                <a:moveTo>
                  <a:pt x="0" y="0"/>
                </a:moveTo>
                <a:lnTo>
                  <a:pt x="1966465" y="0"/>
                </a:lnTo>
                <a:lnTo>
                  <a:pt x="1966465" y="1884231"/>
                </a:lnTo>
                <a:lnTo>
                  <a:pt x="0" y="18842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6" id="36"/>
          <p:cNvSpPr/>
          <p:nvPr/>
        </p:nvSpPr>
        <p:spPr>
          <a:xfrm flipH="false" flipV="false" rot="3235826">
            <a:off x="2228498" y="9039352"/>
            <a:ext cx="1966466" cy="1884231"/>
          </a:xfrm>
          <a:custGeom>
            <a:avLst/>
            <a:gdLst/>
            <a:ahLst/>
            <a:cxnLst/>
            <a:rect r="r" b="b" t="t" l="l"/>
            <a:pathLst>
              <a:path h="1884231" w="1966466">
                <a:moveTo>
                  <a:pt x="0" y="0"/>
                </a:moveTo>
                <a:lnTo>
                  <a:pt x="1966466" y="0"/>
                </a:lnTo>
                <a:lnTo>
                  <a:pt x="1966466" y="1884231"/>
                </a:lnTo>
                <a:lnTo>
                  <a:pt x="0" y="18842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7" id="37"/>
          <p:cNvSpPr/>
          <p:nvPr/>
        </p:nvSpPr>
        <p:spPr>
          <a:xfrm flipH="false" flipV="false" rot="3235826">
            <a:off x="4909318" y="9344152"/>
            <a:ext cx="1966466" cy="1884231"/>
          </a:xfrm>
          <a:custGeom>
            <a:avLst/>
            <a:gdLst/>
            <a:ahLst/>
            <a:cxnLst/>
            <a:rect r="r" b="b" t="t" l="l"/>
            <a:pathLst>
              <a:path h="1884231" w="1966466">
                <a:moveTo>
                  <a:pt x="0" y="0"/>
                </a:moveTo>
                <a:lnTo>
                  <a:pt x="1966465" y="0"/>
                </a:lnTo>
                <a:lnTo>
                  <a:pt x="1966465" y="1884231"/>
                </a:lnTo>
                <a:lnTo>
                  <a:pt x="0" y="18842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8" id="38"/>
          <p:cNvSpPr/>
          <p:nvPr/>
        </p:nvSpPr>
        <p:spPr>
          <a:xfrm flipH="false" flipV="false" rot="3235826">
            <a:off x="7770476" y="9498933"/>
            <a:ext cx="1966466" cy="1884231"/>
          </a:xfrm>
          <a:custGeom>
            <a:avLst/>
            <a:gdLst/>
            <a:ahLst/>
            <a:cxnLst/>
            <a:rect r="r" b="b" t="t" l="l"/>
            <a:pathLst>
              <a:path h="1884231" w="1966466">
                <a:moveTo>
                  <a:pt x="0" y="0"/>
                </a:moveTo>
                <a:lnTo>
                  <a:pt x="1966466" y="0"/>
                </a:lnTo>
                <a:lnTo>
                  <a:pt x="1966466" y="1884232"/>
                </a:lnTo>
                <a:lnTo>
                  <a:pt x="0" y="18842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9" id="39"/>
          <p:cNvSpPr/>
          <p:nvPr/>
        </p:nvSpPr>
        <p:spPr>
          <a:xfrm flipH="false" flipV="false" rot="3235826">
            <a:off x="10772603" y="9118035"/>
            <a:ext cx="1966466" cy="1884231"/>
          </a:xfrm>
          <a:custGeom>
            <a:avLst/>
            <a:gdLst/>
            <a:ahLst/>
            <a:cxnLst/>
            <a:rect r="r" b="b" t="t" l="l"/>
            <a:pathLst>
              <a:path h="1884231" w="1966466">
                <a:moveTo>
                  <a:pt x="0" y="0"/>
                </a:moveTo>
                <a:lnTo>
                  <a:pt x="1966465" y="0"/>
                </a:lnTo>
                <a:lnTo>
                  <a:pt x="1966465" y="1884231"/>
                </a:lnTo>
                <a:lnTo>
                  <a:pt x="0" y="18842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0" id="40"/>
          <p:cNvSpPr/>
          <p:nvPr/>
        </p:nvSpPr>
        <p:spPr>
          <a:xfrm flipH="false" flipV="false" rot="3235826">
            <a:off x="13264020" y="9344884"/>
            <a:ext cx="1966466" cy="1884231"/>
          </a:xfrm>
          <a:custGeom>
            <a:avLst/>
            <a:gdLst/>
            <a:ahLst/>
            <a:cxnLst/>
            <a:rect r="r" b="b" t="t" l="l"/>
            <a:pathLst>
              <a:path h="1884231" w="1966466">
                <a:moveTo>
                  <a:pt x="0" y="0"/>
                </a:moveTo>
                <a:lnTo>
                  <a:pt x="1966465" y="0"/>
                </a:lnTo>
                <a:lnTo>
                  <a:pt x="1966465" y="1884232"/>
                </a:lnTo>
                <a:lnTo>
                  <a:pt x="0" y="18842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1" id="41"/>
          <p:cNvSpPr/>
          <p:nvPr/>
        </p:nvSpPr>
        <p:spPr>
          <a:xfrm flipH="false" flipV="false" rot="3235826">
            <a:off x="15944840" y="9118035"/>
            <a:ext cx="1966466" cy="1884231"/>
          </a:xfrm>
          <a:custGeom>
            <a:avLst/>
            <a:gdLst/>
            <a:ahLst/>
            <a:cxnLst/>
            <a:rect r="r" b="b" t="t" l="l"/>
            <a:pathLst>
              <a:path h="1884231" w="1966466">
                <a:moveTo>
                  <a:pt x="0" y="0"/>
                </a:moveTo>
                <a:lnTo>
                  <a:pt x="1966465" y="0"/>
                </a:lnTo>
                <a:lnTo>
                  <a:pt x="1966465" y="1884231"/>
                </a:lnTo>
                <a:lnTo>
                  <a:pt x="0" y="18842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42" id="42"/>
          <p:cNvGrpSpPr/>
          <p:nvPr/>
        </p:nvGrpSpPr>
        <p:grpSpPr>
          <a:xfrm rot="0">
            <a:off x="907256" y="6893719"/>
            <a:ext cx="16473488" cy="1028700"/>
            <a:chOff x="0" y="0"/>
            <a:chExt cx="21964650" cy="13716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1964650" cy="1371600"/>
            </a:xfrm>
            <a:custGeom>
              <a:avLst/>
              <a:gdLst/>
              <a:ahLst/>
              <a:cxnLst/>
              <a:rect r="r" b="b" t="t" l="l"/>
              <a:pathLst>
                <a:path h="1371600" w="21964650">
                  <a:moveTo>
                    <a:pt x="0" y="154559"/>
                  </a:moveTo>
                  <a:cubicBezTo>
                    <a:pt x="0" y="69215"/>
                    <a:pt x="69215" y="0"/>
                    <a:pt x="154559" y="0"/>
                  </a:cubicBezTo>
                  <a:lnTo>
                    <a:pt x="21810090" y="0"/>
                  </a:lnTo>
                  <a:cubicBezTo>
                    <a:pt x="21895434" y="0"/>
                    <a:pt x="21964650" y="69215"/>
                    <a:pt x="21964650" y="154559"/>
                  </a:cubicBezTo>
                  <a:lnTo>
                    <a:pt x="21964650" y="1217041"/>
                  </a:lnTo>
                  <a:cubicBezTo>
                    <a:pt x="21964650" y="1302385"/>
                    <a:pt x="21895434" y="1371600"/>
                    <a:pt x="21810090" y="1371600"/>
                  </a:cubicBezTo>
                  <a:lnTo>
                    <a:pt x="154559" y="1371600"/>
                  </a:lnTo>
                  <a:cubicBezTo>
                    <a:pt x="69215" y="1371600"/>
                    <a:pt x="0" y="1302385"/>
                    <a:pt x="0" y="1217041"/>
                  </a:cubicBezTo>
                  <a:close/>
                </a:path>
              </a:pathLst>
            </a:custGeom>
            <a:solidFill>
              <a:srgbClr val="FFFBE8"/>
            </a:solidFill>
            <a:ln w="14288" cap="sq">
              <a:solidFill>
                <a:srgbClr val="FDE68A"/>
              </a:solidFill>
              <a:prstDash val="solid"/>
              <a:miter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15687675" y="7208044"/>
            <a:ext cx="1328738" cy="400050"/>
            <a:chOff x="0" y="0"/>
            <a:chExt cx="1771650" cy="5334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771650" cy="533400"/>
            </a:xfrm>
            <a:custGeom>
              <a:avLst/>
              <a:gdLst/>
              <a:ahLst/>
              <a:cxnLst/>
              <a:rect r="r" b="b" t="t" l="l"/>
              <a:pathLst>
                <a:path h="533400" w="1771650">
                  <a:moveTo>
                    <a:pt x="0" y="266700"/>
                  </a:moveTo>
                  <a:cubicBezTo>
                    <a:pt x="0" y="119380"/>
                    <a:pt x="119380" y="0"/>
                    <a:pt x="266700" y="0"/>
                  </a:cubicBezTo>
                  <a:lnTo>
                    <a:pt x="1504950" y="0"/>
                  </a:lnTo>
                  <a:cubicBezTo>
                    <a:pt x="1652270" y="0"/>
                    <a:pt x="1771650" y="119380"/>
                    <a:pt x="1771650" y="266700"/>
                  </a:cubicBezTo>
                  <a:cubicBezTo>
                    <a:pt x="1771650" y="414020"/>
                    <a:pt x="1652270" y="533400"/>
                    <a:pt x="1504950" y="533400"/>
                  </a:cubicBezTo>
                  <a:lnTo>
                    <a:pt x="266700" y="533400"/>
                  </a:lnTo>
                  <a:cubicBezTo>
                    <a:pt x="119380" y="533400"/>
                    <a:pt x="0" y="414020"/>
                    <a:pt x="0" y="266700"/>
                  </a:cubicBezTo>
                  <a:close/>
                </a:path>
              </a:pathLst>
            </a:custGeom>
            <a:solidFill>
              <a:srgbClr val="FEF3C7"/>
            </a:solidFill>
          </p:spPr>
        </p:sp>
      </p:grpSp>
      <p:sp>
        <p:nvSpPr>
          <p:cNvPr name="TextBox 46" id="46"/>
          <p:cNvSpPr txBox="true"/>
          <p:nvPr/>
        </p:nvSpPr>
        <p:spPr>
          <a:xfrm rot="0">
            <a:off x="9921326" y="7277100"/>
            <a:ext cx="7207929" cy="252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>
                <a:solidFill>
                  <a:srgbClr val="B45309"/>
                </a:solidFill>
                <a:latin typeface="Arimo"/>
                <a:ea typeface="Arimo"/>
                <a:cs typeface="Arimo"/>
                <a:sym typeface="Arimo"/>
              </a:rPr>
              <a:t>Flutter Test Suite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5887700" y="7274719"/>
            <a:ext cx="1071562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true">
                <a:solidFill>
                  <a:srgbClr val="B45309"/>
                </a:solidFill>
                <a:latin typeface="Arimo Bold"/>
                <a:ea typeface="Arimo Bold"/>
                <a:cs typeface="Arimo Bold"/>
                <a:sym typeface="Arimo Bold"/>
              </a:rPr>
              <a:t>[EN CURSO]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271588" y="7124700"/>
            <a:ext cx="10812180" cy="319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Pruebas Unitarias y Corrección de Errores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271588" y="7434263"/>
            <a:ext cx="10812180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>
                <a:solidFill>
                  <a:srgbClr val="B45309"/>
                </a:solidFill>
                <a:latin typeface="Arimo"/>
                <a:ea typeface="Arimo"/>
                <a:cs typeface="Arimo"/>
                <a:sym typeface="Arimo"/>
              </a:rPr>
              <a:t>Fase activa de calidad y refinamiento de código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2586038"/>
            <a:ext cx="5257800" cy="4429125"/>
            <a:chOff x="0" y="0"/>
            <a:chExt cx="7010400" cy="59055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010400" cy="5905500"/>
            </a:xfrm>
            <a:custGeom>
              <a:avLst/>
              <a:gdLst/>
              <a:ahLst/>
              <a:cxnLst/>
              <a:rect r="r" b="b" t="t" l="l"/>
              <a:pathLst>
                <a:path h="5905500" w="7010400">
                  <a:moveTo>
                    <a:pt x="0" y="190500"/>
                  </a:moveTo>
                  <a:cubicBezTo>
                    <a:pt x="0" y="85217"/>
                    <a:pt x="85217" y="0"/>
                    <a:pt x="190500" y="0"/>
                  </a:cubicBezTo>
                  <a:lnTo>
                    <a:pt x="6819900" y="0"/>
                  </a:lnTo>
                  <a:cubicBezTo>
                    <a:pt x="6925056" y="0"/>
                    <a:pt x="7010400" y="85217"/>
                    <a:pt x="7010400" y="190500"/>
                  </a:cubicBezTo>
                  <a:lnTo>
                    <a:pt x="7010400" y="5715000"/>
                  </a:lnTo>
                  <a:cubicBezTo>
                    <a:pt x="7010400" y="5820156"/>
                    <a:pt x="6925183" y="5905500"/>
                    <a:pt x="6819900" y="5905500"/>
                  </a:cubicBezTo>
                  <a:lnTo>
                    <a:pt x="190500" y="5905500"/>
                  </a:lnTo>
                  <a:cubicBezTo>
                    <a:pt x="85344" y="5905500"/>
                    <a:pt x="0" y="5820283"/>
                    <a:pt x="0" y="571500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515100" y="2586038"/>
            <a:ext cx="5257800" cy="4429125"/>
            <a:chOff x="0" y="0"/>
            <a:chExt cx="7010400" cy="59055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010400" cy="5905500"/>
            </a:xfrm>
            <a:custGeom>
              <a:avLst/>
              <a:gdLst/>
              <a:ahLst/>
              <a:cxnLst/>
              <a:rect r="r" b="b" t="t" l="l"/>
              <a:pathLst>
                <a:path h="5905500" w="7010400">
                  <a:moveTo>
                    <a:pt x="0" y="190500"/>
                  </a:moveTo>
                  <a:cubicBezTo>
                    <a:pt x="0" y="85217"/>
                    <a:pt x="85217" y="0"/>
                    <a:pt x="190500" y="0"/>
                  </a:cubicBezTo>
                  <a:lnTo>
                    <a:pt x="6819900" y="0"/>
                  </a:lnTo>
                  <a:cubicBezTo>
                    <a:pt x="6925056" y="0"/>
                    <a:pt x="7010400" y="85217"/>
                    <a:pt x="7010400" y="190500"/>
                  </a:cubicBezTo>
                  <a:lnTo>
                    <a:pt x="7010400" y="5715000"/>
                  </a:lnTo>
                  <a:cubicBezTo>
                    <a:pt x="7010400" y="5820156"/>
                    <a:pt x="6925183" y="5905500"/>
                    <a:pt x="6819900" y="5905500"/>
                  </a:cubicBezTo>
                  <a:lnTo>
                    <a:pt x="190500" y="5905500"/>
                  </a:lnTo>
                  <a:cubicBezTo>
                    <a:pt x="85344" y="5905500"/>
                    <a:pt x="0" y="5820283"/>
                    <a:pt x="0" y="571500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115800" y="2586038"/>
            <a:ext cx="5257800" cy="4429125"/>
            <a:chOff x="0" y="0"/>
            <a:chExt cx="7010400" cy="59055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010400" cy="5905500"/>
            </a:xfrm>
            <a:custGeom>
              <a:avLst/>
              <a:gdLst/>
              <a:ahLst/>
              <a:cxnLst/>
              <a:rect r="r" b="b" t="t" l="l"/>
              <a:pathLst>
                <a:path h="5905500" w="7010400">
                  <a:moveTo>
                    <a:pt x="0" y="190500"/>
                  </a:moveTo>
                  <a:cubicBezTo>
                    <a:pt x="0" y="85217"/>
                    <a:pt x="85217" y="0"/>
                    <a:pt x="190500" y="0"/>
                  </a:cubicBezTo>
                  <a:lnTo>
                    <a:pt x="6819900" y="0"/>
                  </a:lnTo>
                  <a:cubicBezTo>
                    <a:pt x="6925056" y="0"/>
                    <a:pt x="7010400" y="85217"/>
                    <a:pt x="7010400" y="190500"/>
                  </a:cubicBezTo>
                  <a:lnTo>
                    <a:pt x="7010400" y="5715000"/>
                  </a:lnTo>
                  <a:cubicBezTo>
                    <a:pt x="7010400" y="5820156"/>
                    <a:pt x="6925183" y="5905500"/>
                    <a:pt x="6819900" y="5905500"/>
                  </a:cubicBezTo>
                  <a:lnTo>
                    <a:pt x="190500" y="5905500"/>
                  </a:lnTo>
                  <a:cubicBezTo>
                    <a:pt x="85344" y="5905500"/>
                    <a:pt x="0" y="5820283"/>
                    <a:pt x="0" y="571500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914400" y="7829550"/>
            <a:ext cx="5257800" cy="14288"/>
            <a:chOff x="0" y="0"/>
            <a:chExt cx="7010400" cy="190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010400" cy="19050"/>
            </a:xfrm>
            <a:custGeom>
              <a:avLst/>
              <a:gdLst/>
              <a:ahLst/>
              <a:cxnLst/>
              <a:rect r="r" b="b" t="t" l="l"/>
              <a:pathLst>
                <a:path h="19050" w="7010400">
                  <a:moveTo>
                    <a:pt x="0" y="0"/>
                  </a:moveTo>
                  <a:lnTo>
                    <a:pt x="7010400" y="0"/>
                  </a:lnTo>
                  <a:lnTo>
                    <a:pt x="70104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14400" y="2586038"/>
            <a:ext cx="5257800" cy="57150"/>
            <a:chOff x="0" y="0"/>
            <a:chExt cx="7010400" cy="762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010400" cy="76200"/>
            </a:xfrm>
            <a:custGeom>
              <a:avLst/>
              <a:gdLst/>
              <a:ahLst/>
              <a:cxnLst/>
              <a:rect r="r" b="b" t="t" l="l"/>
              <a:pathLst>
                <a:path h="76200" w="7010400">
                  <a:moveTo>
                    <a:pt x="0" y="0"/>
                  </a:moveTo>
                  <a:lnTo>
                    <a:pt x="7010400" y="0"/>
                  </a:lnTo>
                  <a:lnTo>
                    <a:pt x="70104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914400" y="3414712"/>
            <a:ext cx="14288" cy="4429125"/>
            <a:chOff x="0" y="0"/>
            <a:chExt cx="19050" cy="59055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9050" cy="5905500"/>
            </a:xfrm>
            <a:custGeom>
              <a:avLst/>
              <a:gdLst/>
              <a:ahLst/>
              <a:cxnLst/>
              <a:rect r="r" b="b" t="t" l="l"/>
              <a:pathLst>
                <a:path h="5905500" w="19050">
                  <a:moveTo>
                    <a:pt x="0" y="0"/>
                  </a:moveTo>
                  <a:lnTo>
                    <a:pt x="19050" y="0"/>
                  </a:lnTo>
                  <a:lnTo>
                    <a:pt x="19050" y="5905500"/>
                  </a:lnTo>
                  <a:lnTo>
                    <a:pt x="0" y="59055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6157912" y="2586038"/>
            <a:ext cx="14288" cy="4429125"/>
            <a:chOff x="0" y="0"/>
            <a:chExt cx="19050" cy="59055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9050" cy="5905500"/>
            </a:xfrm>
            <a:custGeom>
              <a:avLst/>
              <a:gdLst/>
              <a:ahLst/>
              <a:cxnLst/>
              <a:rect r="r" b="b" t="t" l="l"/>
              <a:pathLst>
                <a:path h="5905500" w="19050">
                  <a:moveTo>
                    <a:pt x="0" y="0"/>
                  </a:moveTo>
                  <a:lnTo>
                    <a:pt x="19050" y="0"/>
                  </a:lnTo>
                  <a:lnTo>
                    <a:pt x="19050" y="5905500"/>
                  </a:lnTo>
                  <a:lnTo>
                    <a:pt x="0" y="59055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6515100" y="7829550"/>
            <a:ext cx="5257800" cy="14288"/>
            <a:chOff x="0" y="0"/>
            <a:chExt cx="7010400" cy="1905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010400" cy="19050"/>
            </a:xfrm>
            <a:custGeom>
              <a:avLst/>
              <a:gdLst/>
              <a:ahLst/>
              <a:cxnLst/>
              <a:rect r="r" b="b" t="t" l="l"/>
              <a:pathLst>
                <a:path h="19050" w="7010400">
                  <a:moveTo>
                    <a:pt x="0" y="0"/>
                  </a:moveTo>
                  <a:lnTo>
                    <a:pt x="7010400" y="0"/>
                  </a:lnTo>
                  <a:lnTo>
                    <a:pt x="70104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6515100" y="2586038"/>
            <a:ext cx="5257800" cy="57150"/>
            <a:chOff x="0" y="0"/>
            <a:chExt cx="7010400" cy="762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010400" cy="76200"/>
            </a:xfrm>
            <a:custGeom>
              <a:avLst/>
              <a:gdLst/>
              <a:ahLst/>
              <a:cxnLst/>
              <a:rect r="r" b="b" t="t" l="l"/>
              <a:pathLst>
                <a:path h="76200" w="7010400">
                  <a:moveTo>
                    <a:pt x="0" y="0"/>
                  </a:moveTo>
                  <a:lnTo>
                    <a:pt x="7010400" y="0"/>
                  </a:lnTo>
                  <a:lnTo>
                    <a:pt x="70104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F43F5E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6515100" y="2586038"/>
            <a:ext cx="14288" cy="4429125"/>
            <a:chOff x="0" y="0"/>
            <a:chExt cx="19050" cy="59055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9050" cy="5905500"/>
            </a:xfrm>
            <a:custGeom>
              <a:avLst/>
              <a:gdLst/>
              <a:ahLst/>
              <a:cxnLst/>
              <a:rect r="r" b="b" t="t" l="l"/>
              <a:pathLst>
                <a:path h="5905500" w="19050">
                  <a:moveTo>
                    <a:pt x="0" y="0"/>
                  </a:moveTo>
                  <a:lnTo>
                    <a:pt x="19050" y="0"/>
                  </a:lnTo>
                  <a:lnTo>
                    <a:pt x="19050" y="5905500"/>
                  </a:lnTo>
                  <a:lnTo>
                    <a:pt x="0" y="59055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1758612" y="2586038"/>
            <a:ext cx="14288" cy="4429125"/>
            <a:chOff x="0" y="0"/>
            <a:chExt cx="19050" cy="59055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9050" cy="5905500"/>
            </a:xfrm>
            <a:custGeom>
              <a:avLst/>
              <a:gdLst/>
              <a:ahLst/>
              <a:cxnLst/>
              <a:rect r="r" b="b" t="t" l="l"/>
              <a:pathLst>
                <a:path h="5905500" w="19050">
                  <a:moveTo>
                    <a:pt x="0" y="0"/>
                  </a:moveTo>
                  <a:lnTo>
                    <a:pt x="19050" y="0"/>
                  </a:lnTo>
                  <a:lnTo>
                    <a:pt x="19050" y="5905500"/>
                  </a:lnTo>
                  <a:lnTo>
                    <a:pt x="0" y="59055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2115800" y="7829550"/>
            <a:ext cx="5257800" cy="14288"/>
            <a:chOff x="0" y="0"/>
            <a:chExt cx="7010400" cy="1905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010400" cy="19050"/>
            </a:xfrm>
            <a:custGeom>
              <a:avLst/>
              <a:gdLst/>
              <a:ahLst/>
              <a:cxnLst/>
              <a:rect r="r" b="b" t="t" l="l"/>
              <a:pathLst>
                <a:path h="19050" w="7010400">
                  <a:moveTo>
                    <a:pt x="0" y="0"/>
                  </a:moveTo>
                  <a:lnTo>
                    <a:pt x="7010400" y="0"/>
                  </a:lnTo>
                  <a:lnTo>
                    <a:pt x="70104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2115800" y="2586038"/>
            <a:ext cx="5257800" cy="57150"/>
            <a:chOff x="0" y="0"/>
            <a:chExt cx="7010400" cy="762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010400" cy="76200"/>
            </a:xfrm>
            <a:custGeom>
              <a:avLst/>
              <a:gdLst/>
              <a:ahLst/>
              <a:cxnLst/>
              <a:rect r="r" b="b" t="t" l="l"/>
              <a:pathLst>
                <a:path h="76200" w="7010400">
                  <a:moveTo>
                    <a:pt x="0" y="0"/>
                  </a:moveTo>
                  <a:lnTo>
                    <a:pt x="7010400" y="0"/>
                  </a:lnTo>
                  <a:lnTo>
                    <a:pt x="70104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2115800" y="2586038"/>
            <a:ext cx="14288" cy="4429125"/>
            <a:chOff x="0" y="0"/>
            <a:chExt cx="19050" cy="59055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9050" cy="5905500"/>
            </a:xfrm>
            <a:custGeom>
              <a:avLst/>
              <a:gdLst/>
              <a:ahLst/>
              <a:cxnLst/>
              <a:rect r="r" b="b" t="t" l="l"/>
              <a:pathLst>
                <a:path h="5905500" w="19050">
                  <a:moveTo>
                    <a:pt x="0" y="0"/>
                  </a:moveTo>
                  <a:lnTo>
                    <a:pt x="19050" y="0"/>
                  </a:lnTo>
                  <a:lnTo>
                    <a:pt x="19050" y="5905500"/>
                  </a:lnTo>
                  <a:lnTo>
                    <a:pt x="0" y="59055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7359312" y="3414712"/>
            <a:ext cx="14288" cy="4429125"/>
            <a:chOff x="0" y="0"/>
            <a:chExt cx="19050" cy="59055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9050" cy="5905500"/>
            </a:xfrm>
            <a:custGeom>
              <a:avLst/>
              <a:gdLst/>
              <a:ahLst/>
              <a:cxnLst/>
              <a:rect r="r" b="b" t="t" l="l"/>
              <a:pathLst>
                <a:path h="5905500" w="19050">
                  <a:moveTo>
                    <a:pt x="0" y="0"/>
                  </a:moveTo>
                  <a:lnTo>
                    <a:pt x="19050" y="0"/>
                  </a:lnTo>
                  <a:lnTo>
                    <a:pt x="19050" y="5905500"/>
                  </a:lnTo>
                  <a:lnTo>
                    <a:pt x="0" y="59055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sp>
        <p:nvSpPr>
          <p:cNvPr name="TextBox 32" id="32"/>
          <p:cNvSpPr txBox="true"/>
          <p:nvPr/>
        </p:nvSpPr>
        <p:spPr>
          <a:xfrm rot="0">
            <a:off x="15330488" y="790575"/>
            <a:ext cx="2553891" cy="252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Retrospectiva Técnica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14400" y="790575"/>
            <a:ext cx="10161984" cy="252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 b="true">
                <a:solidFill>
                  <a:srgbClr val="6366F1"/>
                </a:solidFill>
                <a:latin typeface="Arimo Bold"/>
                <a:ea typeface="Arimo Bold"/>
                <a:cs typeface="Arimo Bold"/>
                <a:sym typeface="Arimo Bold"/>
              </a:rPr>
              <a:t>// 05. ANÁLISIS DE EJECUCIÓN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914400" y="1109662"/>
            <a:ext cx="10670086" cy="6619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sz="4050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Facilitadores, Desafíos y Ajustes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271588" y="2967038"/>
            <a:ext cx="4686300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true">
                <a:solidFill>
                  <a:srgbClr val="059669"/>
                </a:solidFill>
                <a:latin typeface="Arimo Bold"/>
                <a:ea typeface="Arimo Bold"/>
                <a:cs typeface="Arimo Bold"/>
                <a:sym typeface="Arimo Bold"/>
              </a:rPr>
              <a:t>→ PUNTOS A FAVOR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271588" y="6448425"/>
            <a:ext cx="5679281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85"/>
              </a:lnSpc>
            </a:pPr>
            <a:r>
              <a:rPr lang="en-US" sz="1237" b="true">
                <a:solidFill>
                  <a:srgbClr val="059669"/>
                </a:solidFill>
                <a:latin typeface="Arimo Bold"/>
                <a:ea typeface="Arimo Bold"/>
                <a:cs typeface="Arimo Bold"/>
                <a:sym typeface="Arimo Bold"/>
              </a:rPr>
              <a:t>// AVANCE FLUIDO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6872288" y="6448425"/>
            <a:ext cx="5679281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85"/>
              </a:lnSpc>
            </a:pPr>
            <a:r>
              <a:rPr lang="en-US" sz="1237" b="true">
                <a:solidFill>
                  <a:srgbClr val="E11D48"/>
                </a:solidFill>
                <a:latin typeface="Arimo Bold"/>
                <a:ea typeface="Arimo Bold"/>
                <a:cs typeface="Arimo Bold"/>
                <a:sym typeface="Arimo Bold"/>
              </a:rPr>
              <a:t>// RESOLUCIÓN TÉCNICA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2472988" y="2967038"/>
            <a:ext cx="4686300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true">
                <a:solidFill>
                  <a:srgbClr val="4F46E5"/>
                </a:solidFill>
                <a:latin typeface="Arimo Bold"/>
                <a:ea typeface="Arimo Bold"/>
                <a:cs typeface="Arimo Bold"/>
                <a:sym typeface="Arimo Bold"/>
              </a:rPr>
              <a:t>→ ACCIONES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2472988" y="6448425"/>
            <a:ext cx="5679281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85"/>
              </a:lnSpc>
            </a:pPr>
            <a:r>
              <a:rPr lang="en-US" sz="1237" b="true">
                <a:solidFill>
                  <a:srgbClr val="4F46E5"/>
                </a:solidFill>
                <a:latin typeface="Arimo Bold"/>
                <a:ea typeface="Arimo Bold"/>
                <a:cs typeface="Arimo Bold"/>
                <a:sym typeface="Arimo Bold"/>
              </a:rPr>
              <a:t>// ALCANCE CONSERVADO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271588" y="3448050"/>
            <a:ext cx="5963241" cy="338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Factores Facilitadores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1271588" y="3929062"/>
            <a:ext cx="4723805" cy="2171700"/>
            <a:chOff x="0" y="0"/>
            <a:chExt cx="6298406" cy="2895600"/>
          </a:xfrm>
        </p:grpSpPr>
        <p:sp>
          <p:nvSpPr>
            <p:cNvPr name="TextBox 42" id="42"/>
            <p:cNvSpPr txBox="true"/>
            <p:nvPr/>
          </p:nvSpPr>
          <p:spPr>
            <a:xfrm rot="0">
              <a:off x="0" y="-19050"/>
              <a:ext cx="6298406" cy="8826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09"/>
                </a:lnSpc>
              </a:pPr>
              <a:r>
                <a:rPr lang="en-US" sz="2174">
                  <a:solidFill>
                    <a:srgbClr val="475569"/>
                  </a:solidFill>
                  <a:latin typeface="Arimo"/>
                  <a:ea typeface="Arimo"/>
                  <a:cs typeface="Arimo"/>
                  <a:sym typeface="Arimo"/>
                </a:rPr>
                <a:t>• Control de versiones riguroso con GitHub.</a:t>
              </a:r>
            </a:p>
          </p:txBody>
        </p:sp>
        <p:sp>
          <p:nvSpPr>
            <p:cNvPr name="TextBox 43" id="43"/>
            <p:cNvSpPr txBox="true"/>
            <p:nvPr/>
          </p:nvSpPr>
          <p:spPr>
            <a:xfrm rot="0">
              <a:off x="0" y="996950"/>
              <a:ext cx="5197175" cy="8826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09"/>
                </a:lnSpc>
              </a:pPr>
              <a:r>
                <a:rPr lang="en-US" sz="2174">
                  <a:solidFill>
                    <a:srgbClr val="475569"/>
                  </a:solidFill>
                  <a:latin typeface="Arimo"/>
                  <a:ea typeface="Arimo"/>
                  <a:cs typeface="Arimo"/>
                  <a:sym typeface="Arimo"/>
                </a:rPr>
                <a:t>• Arquitectura modular por componentes en Flutter.</a:t>
              </a:r>
            </a:p>
          </p:txBody>
        </p:sp>
        <p:sp>
          <p:nvSpPr>
            <p:cNvPr name="TextBox 44" id="44"/>
            <p:cNvSpPr txBox="true"/>
            <p:nvPr/>
          </p:nvSpPr>
          <p:spPr>
            <a:xfrm rot="0">
              <a:off x="0" y="2012950"/>
              <a:ext cx="6298406" cy="8826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09"/>
                </a:lnSpc>
              </a:pPr>
              <a:r>
                <a:rPr lang="en-US" sz="2174">
                  <a:solidFill>
                    <a:srgbClr val="475569"/>
                  </a:solidFill>
                  <a:latin typeface="Arimo"/>
                  <a:ea typeface="Arimo"/>
                  <a:cs typeface="Arimo"/>
                  <a:sym typeface="Arimo"/>
                </a:rPr>
                <a:t>• Documentación clara del ecosistema Dart.</a:t>
              </a:r>
            </a:p>
          </p:txBody>
        </p:sp>
      </p:grpSp>
      <p:sp>
        <p:nvSpPr>
          <p:cNvPr name="TextBox 45" id="45"/>
          <p:cNvSpPr txBox="true"/>
          <p:nvPr/>
        </p:nvSpPr>
        <p:spPr>
          <a:xfrm rot="0">
            <a:off x="6872288" y="3448050"/>
            <a:ext cx="5963241" cy="338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Obstáculos Técnicos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6872288" y="3919537"/>
            <a:ext cx="4181475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9"/>
              </a:lnSpc>
            </a:pPr>
            <a:r>
              <a:rPr lang="en-US" sz="2074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• Complejidad en persistencia relacional local.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6894909" y="4614863"/>
            <a:ext cx="3450374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9"/>
              </a:lnSpc>
            </a:pPr>
            <a:r>
              <a:rPr lang="en-US" sz="2074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• Configuración de llaves de almacenamiento cifrado.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6894909" y="5369719"/>
            <a:ext cx="4181475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9"/>
              </a:lnSpc>
            </a:pPr>
            <a:r>
              <a:rPr lang="en-US" sz="2074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• Cobertura de pruebas unitarias integradas.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2472988" y="3448050"/>
            <a:ext cx="5815012" cy="338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Ajustes Aplicados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2472988" y="3919537"/>
            <a:ext cx="3749556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9"/>
              </a:lnSpc>
            </a:pPr>
            <a:r>
              <a:rPr lang="en-US" sz="2074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• Refactorización interna para mejorar estabilidad.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2472988" y="4619625"/>
            <a:ext cx="3749556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9"/>
              </a:lnSpc>
            </a:pPr>
            <a:r>
              <a:rPr lang="en-US" sz="2074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• Sin alteraciones en las metas ni alcance principal.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2472675" y="5319713"/>
            <a:ext cx="4544050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9"/>
              </a:lnSpc>
            </a:pPr>
            <a:r>
              <a:rPr lang="en-US" sz="2074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• Reorganización de la suite de pruebas unitarias.</a:t>
            </a:r>
          </a:p>
        </p:txBody>
      </p:sp>
      <p:grpSp>
        <p:nvGrpSpPr>
          <p:cNvPr name="Group 53" id="53"/>
          <p:cNvGrpSpPr/>
          <p:nvPr/>
        </p:nvGrpSpPr>
        <p:grpSpPr>
          <a:xfrm rot="0">
            <a:off x="928688" y="7967662"/>
            <a:ext cx="16473488" cy="1480304"/>
            <a:chOff x="0" y="0"/>
            <a:chExt cx="21964650" cy="1973739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21964650" cy="1973739"/>
            </a:xfrm>
            <a:custGeom>
              <a:avLst/>
              <a:gdLst/>
              <a:ahLst/>
              <a:cxnLst/>
              <a:rect r="r" b="b" t="t" l="l"/>
              <a:pathLst>
                <a:path h="1973739" w="21964650">
                  <a:moveTo>
                    <a:pt x="0" y="222411"/>
                  </a:moveTo>
                  <a:cubicBezTo>
                    <a:pt x="0" y="99601"/>
                    <a:pt x="69215" y="0"/>
                    <a:pt x="154559" y="0"/>
                  </a:cubicBezTo>
                  <a:lnTo>
                    <a:pt x="21810090" y="0"/>
                  </a:lnTo>
                  <a:cubicBezTo>
                    <a:pt x="21895434" y="0"/>
                    <a:pt x="21964650" y="99601"/>
                    <a:pt x="21964650" y="222411"/>
                  </a:cubicBezTo>
                  <a:lnTo>
                    <a:pt x="21964650" y="1751328"/>
                  </a:lnTo>
                  <a:cubicBezTo>
                    <a:pt x="21964650" y="1874138"/>
                    <a:pt x="21895434" y="1973739"/>
                    <a:pt x="21810090" y="1973739"/>
                  </a:cubicBezTo>
                  <a:lnTo>
                    <a:pt x="154559" y="1973739"/>
                  </a:lnTo>
                  <a:cubicBezTo>
                    <a:pt x="69215" y="1973739"/>
                    <a:pt x="0" y="1874138"/>
                    <a:pt x="0" y="1751328"/>
                  </a:cubicBezTo>
                  <a:close/>
                </a:path>
              </a:pathLst>
            </a:custGeom>
            <a:solidFill>
              <a:srgbClr val="FFFBE8"/>
            </a:solidFill>
            <a:ln w="14288" cap="sq">
              <a:solidFill>
                <a:srgbClr val="FDE68A"/>
              </a:solidFill>
              <a:prstDash val="solid"/>
              <a:miter/>
            </a:ln>
          </p:spPr>
        </p:sp>
      </p:grpSp>
      <p:sp>
        <p:nvSpPr>
          <p:cNvPr name="TextBox 55" id="55"/>
          <p:cNvSpPr txBox="true"/>
          <p:nvPr/>
        </p:nvSpPr>
        <p:spPr>
          <a:xfrm rot="0">
            <a:off x="1293019" y="8198644"/>
            <a:ext cx="10812180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Obstaculo de visión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293019" y="8508206"/>
            <a:ext cx="15723706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4"/>
              </a:lnSpc>
            </a:pPr>
            <a:r>
              <a:rPr lang="en-US" sz="1662">
                <a:solidFill>
                  <a:srgbClr val="B45309"/>
                </a:solidFill>
                <a:latin typeface="Arimo"/>
                <a:ea typeface="Arimo"/>
                <a:cs typeface="Arimo"/>
                <a:sym typeface="Arimo"/>
              </a:rPr>
              <a:t>Durante el desarrollo identificamos la necesidad de incorporar autenticación de usuarios. Sin embargo, esto requiere una infraestructura en la nube para gestionar credenciales y cuentas, lo cual entra en conflicto directo con la visión original del proyecto, enfocada en una arquitectura 100% local, privada y descentralizada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90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421856" y="2393156"/>
            <a:ext cx="11444288" cy="5500688"/>
            <a:chOff x="0" y="0"/>
            <a:chExt cx="15259050" cy="73342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259050" cy="7334250"/>
            </a:xfrm>
            <a:custGeom>
              <a:avLst/>
              <a:gdLst/>
              <a:ahLst/>
              <a:cxnLst/>
              <a:rect r="r" b="b" t="t" l="l"/>
              <a:pathLst>
                <a:path h="7334250" w="15259050">
                  <a:moveTo>
                    <a:pt x="0" y="229235"/>
                  </a:moveTo>
                  <a:cubicBezTo>
                    <a:pt x="0" y="102616"/>
                    <a:pt x="102616" y="0"/>
                    <a:pt x="229235" y="0"/>
                  </a:cubicBezTo>
                  <a:lnTo>
                    <a:pt x="15029814" y="0"/>
                  </a:lnTo>
                  <a:cubicBezTo>
                    <a:pt x="15156433" y="0"/>
                    <a:pt x="15259050" y="102616"/>
                    <a:pt x="15259050" y="229235"/>
                  </a:cubicBezTo>
                  <a:lnTo>
                    <a:pt x="15259050" y="7105015"/>
                  </a:lnTo>
                  <a:cubicBezTo>
                    <a:pt x="15259050" y="7231634"/>
                    <a:pt x="15156433" y="7334250"/>
                    <a:pt x="15029814" y="7334250"/>
                  </a:cubicBezTo>
                  <a:lnTo>
                    <a:pt x="229235" y="7334250"/>
                  </a:lnTo>
                  <a:cubicBezTo>
                    <a:pt x="102616" y="7334250"/>
                    <a:pt x="0" y="7231634"/>
                    <a:pt x="0" y="7105015"/>
                  </a:cubicBezTo>
                  <a:close/>
                </a:path>
              </a:pathLst>
            </a:custGeom>
            <a:solidFill>
              <a:srgbClr val="1E293B"/>
            </a:solidFill>
            <a:ln w="14288" cap="sq">
              <a:solidFill>
                <a:srgbClr val="334155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3443288" y="2414588"/>
            <a:ext cx="11401425" cy="600075"/>
            <a:chOff x="0" y="0"/>
            <a:chExt cx="15201900" cy="8001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01900" cy="800100"/>
            </a:xfrm>
            <a:custGeom>
              <a:avLst/>
              <a:gdLst/>
              <a:ahLst/>
              <a:cxnLst/>
              <a:rect r="r" b="b" t="t" l="l"/>
              <a:pathLst>
                <a:path h="800100" w="15201900">
                  <a:moveTo>
                    <a:pt x="0" y="0"/>
                  </a:moveTo>
                  <a:lnTo>
                    <a:pt x="15201900" y="0"/>
                  </a:lnTo>
                  <a:lnTo>
                    <a:pt x="15201900" y="800100"/>
                  </a:lnTo>
                  <a:lnTo>
                    <a:pt x="0" y="800100"/>
                  </a:lnTo>
                  <a:close/>
                </a:path>
              </a:pathLst>
            </a:custGeom>
            <a:solidFill>
              <a:srgbClr val="0F172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3443288" y="3000375"/>
            <a:ext cx="11401425" cy="14288"/>
            <a:chOff x="0" y="0"/>
            <a:chExt cx="15201900" cy="190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5201900" cy="19050"/>
            </a:xfrm>
            <a:custGeom>
              <a:avLst/>
              <a:gdLst/>
              <a:ahLst/>
              <a:cxnLst/>
              <a:rect r="r" b="b" t="t" l="l"/>
              <a:pathLst>
                <a:path h="19050" w="15201900">
                  <a:moveTo>
                    <a:pt x="0" y="0"/>
                  </a:moveTo>
                  <a:lnTo>
                    <a:pt x="15201900" y="0"/>
                  </a:lnTo>
                  <a:lnTo>
                    <a:pt x="152019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7393781" y="3636169"/>
            <a:ext cx="3500438" cy="471488"/>
            <a:chOff x="0" y="0"/>
            <a:chExt cx="4667250" cy="6286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667250" cy="628650"/>
            </a:xfrm>
            <a:custGeom>
              <a:avLst/>
              <a:gdLst/>
              <a:ahLst/>
              <a:cxnLst/>
              <a:rect r="r" b="b" t="t" l="l"/>
              <a:pathLst>
                <a:path h="628650" w="4667250">
                  <a:moveTo>
                    <a:pt x="0" y="314325"/>
                  </a:moveTo>
                  <a:cubicBezTo>
                    <a:pt x="0" y="140716"/>
                    <a:pt x="140716" y="0"/>
                    <a:pt x="314325" y="0"/>
                  </a:cubicBezTo>
                  <a:lnTo>
                    <a:pt x="4352925" y="0"/>
                  </a:lnTo>
                  <a:cubicBezTo>
                    <a:pt x="4526534" y="0"/>
                    <a:pt x="4667250" y="140716"/>
                    <a:pt x="4667250" y="314325"/>
                  </a:cubicBezTo>
                  <a:cubicBezTo>
                    <a:pt x="4667250" y="487934"/>
                    <a:pt x="4526534" y="628650"/>
                    <a:pt x="4352925" y="628650"/>
                  </a:cubicBezTo>
                  <a:lnTo>
                    <a:pt x="314325" y="628650"/>
                  </a:lnTo>
                  <a:cubicBezTo>
                    <a:pt x="140716" y="628650"/>
                    <a:pt x="0" y="487934"/>
                    <a:pt x="0" y="314325"/>
                  </a:cubicBezTo>
                  <a:close/>
                </a:path>
              </a:pathLst>
            </a:custGeom>
            <a:solidFill>
              <a:srgbClr val="283256"/>
            </a:solidFill>
            <a:ln w="14288" cap="sq">
              <a:solidFill>
                <a:srgbClr val="333B72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5572125" y="6607969"/>
            <a:ext cx="2171700" cy="585788"/>
            <a:chOff x="0" y="0"/>
            <a:chExt cx="2895600" cy="7810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895600" cy="781050"/>
            </a:xfrm>
            <a:custGeom>
              <a:avLst/>
              <a:gdLst/>
              <a:ahLst/>
              <a:cxnLst/>
              <a:rect r="r" b="b" t="t" l="l"/>
              <a:pathLst>
                <a:path h="781050" w="2895600">
                  <a:moveTo>
                    <a:pt x="0" y="156210"/>
                  </a:moveTo>
                  <a:cubicBezTo>
                    <a:pt x="0" y="69977"/>
                    <a:pt x="69977" y="0"/>
                    <a:pt x="156210" y="0"/>
                  </a:cubicBezTo>
                  <a:lnTo>
                    <a:pt x="2739390" y="0"/>
                  </a:lnTo>
                  <a:cubicBezTo>
                    <a:pt x="2825623" y="0"/>
                    <a:pt x="2895600" y="69977"/>
                    <a:pt x="2895600" y="156210"/>
                  </a:cubicBezTo>
                  <a:lnTo>
                    <a:pt x="2895600" y="624840"/>
                  </a:lnTo>
                  <a:cubicBezTo>
                    <a:pt x="2895600" y="711073"/>
                    <a:pt x="2825623" y="781050"/>
                    <a:pt x="2739390" y="781050"/>
                  </a:cubicBezTo>
                  <a:lnTo>
                    <a:pt x="156210" y="781050"/>
                  </a:lnTo>
                  <a:cubicBezTo>
                    <a:pt x="69977" y="781050"/>
                    <a:pt x="0" y="711073"/>
                    <a:pt x="0" y="624840"/>
                  </a:cubicBezTo>
                  <a:close/>
                </a:path>
              </a:pathLst>
            </a:custGeom>
            <a:solidFill>
              <a:srgbClr val="0F172A"/>
            </a:solidFill>
            <a:ln w="14288" cap="sq">
              <a:solidFill>
                <a:srgbClr val="334155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7958138" y="6607969"/>
            <a:ext cx="2486025" cy="585788"/>
            <a:chOff x="0" y="0"/>
            <a:chExt cx="3314700" cy="78105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314700" cy="781050"/>
            </a:xfrm>
            <a:custGeom>
              <a:avLst/>
              <a:gdLst/>
              <a:ahLst/>
              <a:cxnLst/>
              <a:rect r="r" b="b" t="t" l="l"/>
              <a:pathLst>
                <a:path h="781050" w="3314700">
                  <a:moveTo>
                    <a:pt x="0" y="156210"/>
                  </a:moveTo>
                  <a:cubicBezTo>
                    <a:pt x="0" y="69977"/>
                    <a:pt x="69977" y="0"/>
                    <a:pt x="156210" y="0"/>
                  </a:cubicBezTo>
                  <a:lnTo>
                    <a:pt x="3158490" y="0"/>
                  </a:lnTo>
                  <a:cubicBezTo>
                    <a:pt x="3244723" y="0"/>
                    <a:pt x="3314700" y="69977"/>
                    <a:pt x="3314700" y="156210"/>
                  </a:cubicBezTo>
                  <a:lnTo>
                    <a:pt x="3314700" y="624840"/>
                  </a:lnTo>
                  <a:cubicBezTo>
                    <a:pt x="3314700" y="711073"/>
                    <a:pt x="3244723" y="781050"/>
                    <a:pt x="3158490" y="781050"/>
                  </a:cubicBezTo>
                  <a:lnTo>
                    <a:pt x="156210" y="781050"/>
                  </a:lnTo>
                  <a:cubicBezTo>
                    <a:pt x="69977" y="781050"/>
                    <a:pt x="0" y="711073"/>
                    <a:pt x="0" y="624840"/>
                  </a:cubicBezTo>
                  <a:close/>
                </a:path>
              </a:pathLst>
            </a:custGeom>
            <a:solidFill>
              <a:srgbClr val="0F172A"/>
            </a:solidFill>
            <a:ln w="14288" cap="sq">
              <a:solidFill>
                <a:srgbClr val="334155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0658475" y="6607969"/>
            <a:ext cx="2057400" cy="585788"/>
            <a:chOff x="0" y="0"/>
            <a:chExt cx="2743200" cy="78105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743200" cy="781050"/>
            </a:xfrm>
            <a:custGeom>
              <a:avLst/>
              <a:gdLst/>
              <a:ahLst/>
              <a:cxnLst/>
              <a:rect r="r" b="b" t="t" l="l"/>
              <a:pathLst>
                <a:path h="781050" w="2743200">
                  <a:moveTo>
                    <a:pt x="0" y="156210"/>
                  </a:moveTo>
                  <a:cubicBezTo>
                    <a:pt x="0" y="69977"/>
                    <a:pt x="69977" y="0"/>
                    <a:pt x="156210" y="0"/>
                  </a:cubicBezTo>
                  <a:lnTo>
                    <a:pt x="2586990" y="0"/>
                  </a:lnTo>
                  <a:cubicBezTo>
                    <a:pt x="2673223" y="0"/>
                    <a:pt x="2743200" y="69977"/>
                    <a:pt x="2743200" y="156210"/>
                  </a:cubicBezTo>
                  <a:lnTo>
                    <a:pt x="2743200" y="624840"/>
                  </a:lnTo>
                  <a:cubicBezTo>
                    <a:pt x="2743200" y="711073"/>
                    <a:pt x="2673223" y="781050"/>
                    <a:pt x="2586990" y="781050"/>
                  </a:cubicBezTo>
                  <a:lnTo>
                    <a:pt x="156210" y="781050"/>
                  </a:lnTo>
                  <a:cubicBezTo>
                    <a:pt x="69977" y="781050"/>
                    <a:pt x="0" y="711073"/>
                    <a:pt x="0" y="624840"/>
                  </a:cubicBezTo>
                  <a:close/>
                </a:path>
              </a:pathLst>
            </a:custGeom>
            <a:solidFill>
              <a:srgbClr val="0F172A"/>
            </a:solidFill>
            <a:ln w="14288" cap="sq">
              <a:solidFill>
                <a:srgbClr val="334155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5850731" y="6800850"/>
            <a:ext cx="157162" cy="200025"/>
            <a:chOff x="0" y="0"/>
            <a:chExt cx="209550" cy="266700"/>
          </a:xfrm>
        </p:grpSpPr>
        <p:sp>
          <p:nvSpPr>
            <p:cNvPr name="Freeform 17" id="17" descr="image.png"/>
            <p:cNvSpPr/>
            <p:nvPr/>
          </p:nvSpPr>
          <p:spPr>
            <a:xfrm flipH="false" flipV="false" rot="0">
              <a:off x="0" y="0"/>
              <a:ext cx="209550" cy="266700"/>
            </a:xfrm>
            <a:custGeom>
              <a:avLst/>
              <a:gdLst/>
              <a:ahLst/>
              <a:cxnLst/>
              <a:rect r="r" b="b" t="t" l="l"/>
              <a:pathLst>
                <a:path h="266700" w="209550">
                  <a:moveTo>
                    <a:pt x="0" y="0"/>
                  </a:moveTo>
                  <a:lnTo>
                    <a:pt x="209550" y="0"/>
                  </a:lnTo>
                  <a:lnTo>
                    <a:pt x="209550" y="266700"/>
                  </a:lnTo>
                  <a:lnTo>
                    <a:pt x="0" y="266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4545" t="0" r="-4545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8236744" y="6800850"/>
            <a:ext cx="200025" cy="200025"/>
            <a:chOff x="0" y="0"/>
            <a:chExt cx="266700" cy="266700"/>
          </a:xfrm>
        </p:grpSpPr>
        <p:sp>
          <p:nvSpPr>
            <p:cNvPr name="Freeform 19" id="19" descr="image.png"/>
            <p:cNvSpPr/>
            <p:nvPr/>
          </p:nvSpPr>
          <p:spPr>
            <a:xfrm flipH="false" flipV="false" rot="0">
              <a:off x="0" y="0"/>
              <a:ext cx="266700" cy="266700"/>
            </a:xfrm>
            <a:custGeom>
              <a:avLst/>
              <a:gdLst/>
              <a:ahLst/>
              <a:cxnLst/>
              <a:rect r="r" b="b" t="t" l="l"/>
              <a:pathLst>
                <a:path h="266700" w="266700">
                  <a:moveTo>
                    <a:pt x="0" y="0"/>
                  </a:moveTo>
                  <a:lnTo>
                    <a:pt x="266700" y="0"/>
                  </a:lnTo>
                  <a:lnTo>
                    <a:pt x="266700" y="266700"/>
                  </a:lnTo>
                  <a:lnTo>
                    <a:pt x="0" y="266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571" t="0" r="-3571" b="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0937081" y="6800850"/>
            <a:ext cx="171450" cy="200025"/>
            <a:chOff x="0" y="0"/>
            <a:chExt cx="228600" cy="266700"/>
          </a:xfrm>
        </p:grpSpPr>
        <p:sp>
          <p:nvSpPr>
            <p:cNvPr name="Freeform 21" id="21" descr="image.png"/>
            <p:cNvSpPr/>
            <p:nvPr/>
          </p:nvSpPr>
          <p:spPr>
            <a:xfrm flipH="false" flipV="false" rot="0">
              <a:off x="0" y="0"/>
              <a:ext cx="228600" cy="266700"/>
            </a:xfrm>
            <a:custGeom>
              <a:avLst/>
              <a:gdLst/>
              <a:ahLst/>
              <a:cxnLst/>
              <a:rect r="r" b="b" t="t" l="l"/>
              <a:pathLst>
                <a:path h="266700" w="228600">
                  <a:moveTo>
                    <a:pt x="0" y="0"/>
                  </a:moveTo>
                  <a:lnTo>
                    <a:pt x="228600" y="0"/>
                  </a:lnTo>
                  <a:lnTo>
                    <a:pt x="228600" y="266700"/>
                  </a:lnTo>
                  <a:lnTo>
                    <a:pt x="0" y="266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4166" t="0" r="-4166" b="0"/>
              </a:stretch>
            </a:blip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7679531" y="2576513"/>
            <a:ext cx="3946922" cy="252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>
                <a:solidFill>
                  <a:srgbClr val="94A3B8"/>
                </a:solidFill>
                <a:latin typeface="Arimo"/>
                <a:ea typeface="Arimo"/>
                <a:cs typeface="Arimo"/>
                <a:sym typeface="Arimo"/>
              </a:rPr>
              <a:t>demo_execution.sh — Peso a Peso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193756" y="3719513"/>
            <a:ext cx="3900488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sz="1575" b="true">
                <a:solidFill>
                  <a:srgbClr val="818CF8"/>
                </a:solidFill>
                <a:latin typeface="Arimo Bold"/>
                <a:ea typeface="Arimo Bold"/>
                <a:cs typeface="Arimo Bold"/>
                <a:sym typeface="Arimo Bold"/>
              </a:rPr>
              <a:t>// DEMOSTRACIÓN PRÁCTICA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561930" y="4257675"/>
            <a:ext cx="13164141" cy="9001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sz="5400" b="true">
                <a:solidFill>
                  <a:srgbClr val="F8FAFC"/>
                </a:solidFill>
                <a:latin typeface="Arimo Bold"/>
                <a:ea typeface="Arimo Bold"/>
                <a:cs typeface="Arimo Bold"/>
                <a:sym typeface="Arimo Bold"/>
              </a:rPr>
              <a:t>Demostración en Vivo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3964781" y="5319713"/>
            <a:ext cx="10358438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37"/>
              </a:lnSpc>
            </a:pPr>
            <a:r>
              <a:rPr lang="en-US" sz="2025">
                <a:solidFill>
                  <a:srgbClr val="94A3B8"/>
                </a:solidFill>
                <a:latin typeface="Arimo"/>
                <a:ea typeface="Arimo"/>
                <a:cs typeface="Arimo"/>
                <a:sym typeface="Arimo"/>
              </a:rPr>
              <a:t>Muestra interactiva de los flujos de registro, generación de gráficos y respaldos de la aplicación en ejecución.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5566762" y="6748463"/>
            <a:ext cx="2182416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sz="1575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Reg. Finanzas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7913484" y="6748463"/>
            <a:ext cx="2575322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sz="1575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Gráficos fl_chart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667400" y="6748463"/>
            <a:ext cx="2039541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sz="1575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Respaldo DB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90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8798399">
            <a:off x="10502638" y="1002925"/>
            <a:ext cx="9798172" cy="13143890"/>
          </a:xfrm>
          <a:custGeom>
            <a:avLst/>
            <a:gdLst/>
            <a:ahLst/>
            <a:cxnLst/>
            <a:rect r="r" b="b" t="t" l="l"/>
            <a:pathLst>
              <a:path h="13143890" w="9798172">
                <a:moveTo>
                  <a:pt x="0" y="0"/>
                </a:moveTo>
                <a:lnTo>
                  <a:pt x="9798172" y="0"/>
                </a:lnTo>
                <a:lnTo>
                  <a:pt x="9798172" y="13143890"/>
                </a:lnTo>
                <a:lnTo>
                  <a:pt x="0" y="131438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-8798399">
            <a:off x="-4088125" y="-3464388"/>
            <a:ext cx="9798172" cy="13143890"/>
          </a:xfrm>
          <a:custGeom>
            <a:avLst/>
            <a:gdLst/>
            <a:ahLst/>
            <a:cxnLst/>
            <a:rect r="r" b="b" t="t" l="l"/>
            <a:pathLst>
              <a:path h="13143890" w="9798172">
                <a:moveTo>
                  <a:pt x="0" y="0"/>
                </a:moveTo>
                <a:lnTo>
                  <a:pt x="9798172" y="0"/>
                </a:lnTo>
                <a:lnTo>
                  <a:pt x="9798172" y="13143890"/>
                </a:lnTo>
                <a:lnTo>
                  <a:pt x="0" y="131438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4" id="4"/>
          <p:cNvGrpSpPr/>
          <p:nvPr/>
        </p:nvGrpSpPr>
        <p:grpSpPr>
          <a:xfrm rot="0">
            <a:off x="914400" y="8843962"/>
            <a:ext cx="16459200" cy="14288"/>
            <a:chOff x="0" y="0"/>
            <a:chExt cx="21945600" cy="190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19050"/>
            </a:xfrm>
            <a:custGeom>
              <a:avLst/>
              <a:gdLst/>
              <a:ahLst/>
              <a:cxnLst/>
              <a:rect r="r" b="b" t="t" l="l"/>
              <a:pathLst>
                <a:path h="1905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1E293B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14400" y="904875"/>
            <a:ext cx="3482578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818CF8"/>
                </a:solidFill>
                <a:latin typeface="Arimo Bold"/>
                <a:ea typeface="Arimo Bold"/>
                <a:cs typeface="Arimo Bold"/>
                <a:sym typeface="Arimo Bold"/>
              </a:rPr>
              <a:t>// 06. PRÓXIMOS PASOS &amp; Q&amp;A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144875" y="904875"/>
            <a:ext cx="165735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Cierre Fase 2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14400" y="9134475"/>
            <a:ext cx="4250531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>
                <a:solidFill>
                  <a:srgbClr val="F8FAFC"/>
                </a:solidFill>
                <a:latin typeface="Arimo"/>
                <a:ea typeface="Arimo"/>
                <a:cs typeface="Arimo"/>
                <a:sym typeface="Arimo"/>
              </a:rPr>
              <a:t>Peso a Peso — Proyecto APT Capstone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701962" y="9134475"/>
            <a:ext cx="2100262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>
                <a:solidFill>
                  <a:srgbClr val="F8FAFC"/>
                </a:solidFill>
                <a:latin typeface="Arimo"/>
                <a:ea typeface="Arimo"/>
                <a:cs typeface="Arimo"/>
                <a:sym typeface="Arimo"/>
              </a:rPr>
              <a:t>Evaluación Parcial 2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14400" y="3286125"/>
            <a:ext cx="17847279" cy="9881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30"/>
              </a:lnSpc>
            </a:pPr>
            <a:r>
              <a:rPr lang="en-US" sz="6109" b="true">
                <a:solidFill>
                  <a:srgbClr val="F8FAFC"/>
                </a:solidFill>
                <a:latin typeface="Arimo Bold"/>
                <a:ea typeface="Arimo Bold"/>
                <a:cs typeface="Arimo Bold"/>
                <a:sym typeface="Arimo Bold"/>
              </a:rPr>
              <a:t>Siguientes Etapas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10961" y="4903948"/>
            <a:ext cx="742950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399" b="true">
                <a:solidFill>
                  <a:srgbClr val="38BDF8"/>
                </a:solidFill>
                <a:latin typeface="Arimo Bold"/>
                <a:ea typeface="Arimo Bold"/>
                <a:cs typeface="Arimo Bold"/>
                <a:sym typeface="Arimo Bold"/>
              </a:rPr>
              <a:t>01.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10961" y="6095250"/>
            <a:ext cx="785812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399" b="true">
                <a:solidFill>
                  <a:srgbClr val="38BDF8"/>
                </a:solidFill>
                <a:latin typeface="Arimo Bold"/>
                <a:ea typeface="Arimo Bold"/>
                <a:cs typeface="Arimo Bold"/>
                <a:sym typeface="Arimo Bold"/>
              </a:rPr>
              <a:t>02.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10961" y="7476530"/>
            <a:ext cx="785812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399" b="true">
                <a:solidFill>
                  <a:srgbClr val="38BDF8"/>
                </a:solidFill>
                <a:latin typeface="Arimo Bold"/>
                <a:ea typeface="Arimo Bold"/>
                <a:cs typeface="Arimo Bold"/>
                <a:sym typeface="Arimo Bold"/>
              </a:rPr>
              <a:t>03.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690258" y="4745279"/>
            <a:ext cx="8371099" cy="468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9"/>
              </a:lnSpc>
            </a:pPr>
            <a:r>
              <a:rPr lang="en-US" sz="2733" b="true">
                <a:solidFill>
                  <a:srgbClr val="F1F5F9"/>
                </a:solidFill>
                <a:latin typeface="Arimo Bold"/>
                <a:ea typeface="Arimo Bold"/>
                <a:cs typeface="Arimo Bold"/>
                <a:sym typeface="Arimo Bold"/>
              </a:rPr>
              <a:t>Finalización de Pruebas Unitarias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690258" y="5235295"/>
            <a:ext cx="8371099" cy="3865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Validación integral de casos borde con Flutter Test.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751510" y="6011153"/>
            <a:ext cx="9238835" cy="468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9"/>
              </a:lnSpc>
            </a:pPr>
            <a:r>
              <a:rPr lang="en-US" sz="2733" b="true">
                <a:solidFill>
                  <a:srgbClr val="F1F5F9"/>
                </a:solidFill>
                <a:latin typeface="Arimo Bold"/>
                <a:ea typeface="Arimo Bold"/>
                <a:cs typeface="Arimo Bold"/>
                <a:sym typeface="Arimo Bold"/>
              </a:rPr>
              <a:t>Pulido de UX/UI y Corrección de Errores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751510" y="6501169"/>
            <a:ext cx="9238835" cy="3865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Ajustes visuales finales basados en la retroalimentación.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751510" y="7277027"/>
            <a:ext cx="7426798" cy="468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9"/>
              </a:lnSpc>
            </a:pPr>
            <a:r>
              <a:rPr lang="en-US" sz="2733" b="true">
                <a:solidFill>
                  <a:srgbClr val="F1F5F9"/>
                </a:solidFill>
                <a:latin typeface="Arimo Bold"/>
                <a:ea typeface="Arimo Bold"/>
                <a:cs typeface="Arimo Bold"/>
                <a:sym typeface="Arimo Bold"/>
              </a:rPr>
              <a:t>Cierre y Entrega Final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751510" y="7767042"/>
            <a:ext cx="7426798" cy="3865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Generación de build estable de la aplicación.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2537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236644" y="1575030"/>
            <a:ext cx="13632943" cy="6765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75"/>
              </a:lnSpc>
            </a:pPr>
            <a:r>
              <a:rPr lang="en-US" b="true" sz="19482" spc="1831">
                <a:solidFill>
                  <a:srgbClr val="EDE8E4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MUCHAS GRACIAS</a:t>
            </a:r>
          </a:p>
        </p:txBody>
      </p:sp>
      <p:sp>
        <p:nvSpPr>
          <p:cNvPr name="AutoShape 3" id="3"/>
          <p:cNvSpPr/>
          <p:nvPr/>
        </p:nvSpPr>
        <p:spPr>
          <a:xfrm flipV="true">
            <a:off x="1478627" y="1685723"/>
            <a:ext cx="0" cy="6915554"/>
          </a:xfrm>
          <a:prstGeom prst="line">
            <a:avLst/>
          </a:prstGeom>
          <a:ln cap="flat" w="66675">
            <a:solidFill>
              <a:srgbClr val="E3D8D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flipV="true">
            <a:off x="16627604" y="1685723"/>
            <a:ext cx="0" cy="6915554"/>
          </a:xfrm>
          <a:prstGeom prst="line">
            <a:avLst/>
          </a:prstGeom>
          <a:ln cap="flat" w="66675">
            <a:solidFill>
              <a:srgbClr val="E3D8D4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DAHXdscrbQA</dc:identifier>
  <dcterms:modified xsi:type="dcterms:W3CDTF">2011-08-01T06:04:30Z</dcterms:modified>
  <cp:revision>1</cp:revision>
  <dc:title>Aplicación móvil para la gestión, control presupuestario y registro de finanzas personales.</dc:title>
</cp:coreProperties>
</file>